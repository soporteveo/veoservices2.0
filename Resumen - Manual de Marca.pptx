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76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856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29"/>
        </a:solidFill>
        <a:effectLst/>
      </p:bgPr>
    </p:bg>
    <p:spTree>
      <p:nvGrpSpPr>
        <p:cNvPr id="1" name=""/>
        <p:cNvGrpSpPr/>
        <p:nvPr/>
      </p:nvGrpSpPr>
      <p:grpSpPr>
        <a:xfrm>
          <a:off x="0" y="0"/>
          <a:ext cx="0" cy="0"/>
          <a:chOff x="0" y="0"/>
          <a:chExt cx="0" cy="0"/>
        </a:xfrm>
      </p:grpSpPr>
      <p:sp>
        <p:nvSpPr>
          <p:cNvPr id="2" name="Shape 0"/>
          <p:cNvSpPr/>
          <p:nvPr/>
        </p:nvSpPr>
        <p:spPr>
          <a:xfrm rot="1080000">
            <a:off x="9784080" y="-1097280"/>
            <a:ext cx="4114800" cy="4114800"/>
          </a:xfrm>
          <a:prstGeom prst="roundRect">
            <a:avLst>
              <a:gd name="adj" fmla="val 11111"/>
            </a:avLst>
          </a:prstGeom>
          <a:solidFill>
            <a:srgbClr val="24303A"/>
          </a:solidFill>
          <a:ln/>
        </p:spPr>
      </p:sp>
      <p:sp>
        <p:nvSpPr>
          <p:cNvPr id="3" name="Shape 1"/>
          <p:cNvSpPr/>
          <p:nvPr/>
        </p:nvSpPr>
        <p:spPr>
          <a:xfrm rot="720000">
            <a:off x="10607040" y="4572000"/>
            <a:ext cx="2377440" cy="2377440"/>
          </a:xfrm>
          <a:prstGeom prst="roundRect">
            <a:avLst>
              <a:gd name="adj" fmla="val 11538"/>
            </a:avLst>
          </a:prstGeom>
          <a:solidFill>
            <a:srgbClr val="24303A"/>
          </a:solidFill>
          <a:ln/>
        </p:spPr>
      </p:sp>
      <p:sp>
        <p:nvSpPr>
          <p:cNvPr id="4" name="Text 2"/>
          <p:cNvSpPr/>
          <p:nvPr/>
        </p:nvSpPr>
        <p:spPr>
          <a:xfrm>
            <a:off x="731520" y="1783080"/>
            <a:ext cx="7315200" cy="100584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VEO.</a:t>
            </a:r>
            <a:endParaRPr lang="en-US" sz="6400" dirty="0"/>
          </a:p>
        </p:txBody>
      </p:sp>
      <p:sp>
        <p:nvSpPr>
          <p:cNvPr id="5" name="Text 3"/>
          <p:cNvSpPr/>
          <p:nvPr/>
        </p:nvSpPr>
        <p:spPr>
          <a:xfrm>
            <a:off x="758952" y="2697480"/>
            <a:ext cx="7315200" cy="365760"/>
          </a:xfrm>
          <a:prstGeom prst="rect">
            <a:avLst/>
          </a:prstGeom>
          <a:noFill/>
          <a:ln/>
        </p:spPr>
        <p:txBody>
          <a:bodyPr wrap="square" lIns="0" tIns="0" rIns="0" bIns="0" rtlCol="0" anchor="ctr"/>
          <a:lstStyle/>
          <a:p>
            <a:pPr marL="0" indent="0">
              <a:buNone/>
            </a:pPr>
            <a:r>
              <a:rPr lang="en-US" sz="1600" i="1" kern="0" spc="100" dirty="0">
                <a:solidFill>
                  <a:srgbClr val="BAEB56"/>
                </a:solidFill>
                <a:latin typeface="Calibri" pitchFamily="34" charset="0"/>
                <a:ea typeface="Calibri" pitchFamily="34" charset="-122"/>
                <a:cs typeface="Calibri" pitchFamily="34" charset="-120"/>
              </a:rPr>
              <a:t>Visible.  Verificable.  VEO.</a:t>
            </a:r>
            <a:endParaRPr lang="en-US" sz="1600" dirty="0"/>
          </a:p>
        </p:txBody>
      </p:sp>
      <p:sp>
        <p:nvSpPr>
          <p:cNvPr id="6" name="Text 4"/>
          <p:cNvSpPr/>
          <p:nvPr/>
        </p:nvSpPr>
        <p:spPr>
          <a:xfrm>
            <a:off x="731520" y="3429000"/>
            <a:ext cx="96012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Nuestra marca, en 10 minutos</a:t>
            </a:r>
            <a:endParaRPr lang="en-US" sz="3200" dirty="0"/>
          </a:p>
        </p:txBody>
      </p:sp>
      <p:sp>
        <p:nvSpPr>
          <p:cNvPr id="7" name="Text 5"/>
          <p:cNvSpPr/>
          <p:nvPr/>
        </p:nvSpPr>
        <p:spPr>
          <a:xfrm>
            <a:off x="758952" y="4041648"/>
            <a:ext cx="9601200" cy="365760"/>
          </a:xfrm>
          <a:prstGeom prst="rect">
            <a:avLst/>
          </a:prstGeom>
          <a:noFill/>
          <a:ln/>
        </p:spPr>
        <p:txBody>
          <a:bodyPr wrap="square" lIns="0" tIns="0" rIns="0" bIns="0" rtlCol="0" anchor="ctr"/>
          <a:lstStyle/>
          <a:p>
            <a:pPr marL="0" indent="0">
              <a:buNone/>
            </a:pPr>
            <a:r>
              <a:rPr lang="en-US" sz="1500" dirty="0">
                <a:solidFill>
                  <a:srgbClr val="E8F6F9"/>
                </a:solidFill>
                <a:latin typeface="Calibri" pitchFamily="34" charset="0"/>
                <a:ea typeface="Calibri" pitchFamily="34" charset="-122"/>
                <a:cs typeface="Calibri" pitchFamily="34" charset="-120"/>
              </a:rPr>
              <a:t>Guía rápida para todo el equipo — lo que necesitas saber antes de empezar</a:t>
            </a:r>
            <a:endParaRPr lang="en-US" sz="1500" dirty="0"/>
          </a:p>
        </p:txBody>
      </p:sp>
      <p:sp>
        <p:nvSpPr>
          <p:cNvPr id="8" name="Text 6"/>
          <p:cNvSpPr/>
          <p:nvPr/>
        </p:nvSpPr>
        <p:spPr>
          <a:xfrm>
            <a:off x="758952" y="6126480"/>
            <a:ext cx="7315200" cy="320040"/>
          </a:xfrm>
          <a:prstGeom prst="rect">
            <a:avLst/>
          </a:prstGeom>
          <a:noFill/>
          <a:ln/>
        </p:spPr>
        <p:txBody>
          <a:bodyPr wrap="square" lIns="0" tIns="0" rIns="0" bIns="0" rtlCol="0" anchor="ctr"/>
          <a:lstStyle/>
          <a:p>
            <a:pPr marL="0" indent="0">
              <a:buNone/>
            </a:pPr>
            <a:r>
              <a:rPr lang="en-US" sz="1100" dirty="0">
                <a:solidFill>
                  <a:srgbClr val="4A798C"/>
                </a:solidFill>
                <a:latin typeface="Calibri" pitchFamily="34" charset="0"/>
                <a:ea typeface="Calibri" pitchFamily="34" charset="-122"/>
                <a:cs typeface="Calibri" pitchFamily="34" charset="-120"/>
              </a:rPr>
              <a:t>Kickoff de marca · Agosto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EL PROPÓSITO</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Lo que muestras importa.</a:t>
            </a:r>
            <a:endParaRPr lang="en-US" sz="2700" dirty="0"/>
          </a:p>
        </p:txBody>
      </p:sp>
      <p:sp>
        <p:nvSpPr>
          <p:cNvPr id="5" name="Shape 3"/>
          <p:cNvSpPr/>
          <p:nvPr/>
        </p:nvSpPr>
        <p:spPr>
          <a:xfrm>
            <a:off x="457200" y="1600200"/>
            <a:ext cx="11274552" cy="2148840"/>
          </a:xfrm>
          <a:prstGeom prst="roundRect">
            <a:avLst>
              <a:gd name="adj" fmla="val 4255"/>
            </a:avLst>
          </a:prstGeom>
          <a:solidFill>
            <a:srgbClr val="1B2229"/>
          </a:solidFill>
          <a:ln/>
        </p:spPr>
      </p:sp>
      <p:sp>
        <p:nvSpPr>
          <p:cNvPr id="6" name="Shape 4"/>
          <p:cNvSpPr/>
          <p:nvPr/>
        </p:nvSpPr>
        <p:spPr>
          <a:xfrm>
            <a:off x="713232" y="1810512"/>
            <a:ext cx="457200" cy="457200"/>
          </a:xfrm>
          <a:prstGeom prst="roundRect">
            <a:avLst>
              <a:gd name="adj" fmla="val 18000"/>
            </a:avLst>
          </a:prstGeom>
          <a:solidFill>
            <a:srgbClr val="BAEB56"/>
          </a:solidFill>
          <a:ln/>
        </p:spPr>
      </p:sp>
      <p:sp>
        <p:nvSpPr>
          <p:cNvPr id="7" name="Text 5"/>
          <p:cNvSpPr/>
          <p:nvPr/>
        </p:nvSpPr>
        <p:spPr>
          <a:xfrm>
            <a:off x="713232" y="1700784"/>
            <a:ext cx="457200" cy="457200"/>
          </a:xfrm>
          <a:prstGeom prst="rect">
            <a:avLst/>
          </a:prstGeom>
          <a:noFill/>
          <a:ln/>
        </p:spPr>
        <p:txBody>
          <a:bodyPr wrap="square" lIns="0" tIns="0" rIns="0" bIns="0" rtlCol="0" anchor="ctr"/>
          <a:lstStyle/>
          <a:p>
            <a:pPr marL="0" indent="0" algn="ctr">
              <a:buNone/>
            </a:pPr>
            <a:r>
              <a:rPr lang="en-US" sz="2600" b="1" dirty="0">
                <a:solidFill>
                  <a:srgbClr val="1B2229"/>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371600" y="1828800"/>
            <a:ext cx="9966960" cy="1783080"/>
          </a:xfrm>
          <a:prstGeom prst="rect">
            <a:avLst/>
          </a:prstGeom>
          <a:noFill/>
          <a:ln/>
        </p:spPr>
        <p:txBody>
          <a:bodyPr wrap="square" lIns="0" tIns="0" rIns="0" bIns="0" rtlCol="0" anchor="ctr"/>
          <a:lstStyle/>
          <a:p>
            <a:pPr marL="0" indent="0">
              <a:lnSpc>
                <a:spcPct val="125000"/>
              </a:lnSpc>
              <a:buNone/>
            </a:pPr>
            <a:r>
              <a:rPr lang="en-US" sz="1700" i="1" dirty="0">
                <a:solidFill>
                  <a:srgbClr val="FFFFFF"/>
                </a:solidFill>
                <a:latin typeface="Calibri" pitchFamily="34" charset="0"/>
                <a:ea typeface="Calibri" pitchFamily="34" charset="-122"/>
                <a:cs typeface="Calibri" pitchFamily="34" charset="-120"/>
              </a:rPr>
              <a:t>Importa para la marca que confió en ese espacio. Importa para la persona que lo ve todos los días sin haberlo elegido. Importa para nosotros, que decidimos hace quince años que no íbamos a tratar esa responsabilidad como un trámite.</a:t>
            </a:r>
            <a:endParaRPr lang="en-US" sz="1700" dirty="0"/>
          </a:p>
        </p:txBody>
      </p:sp>
      <p:sp>
        <p:nvSpPr>
          <p:cNvPr id="9" name="Shape 7"/>
          <p:cNvSpPr/>
          <p:nvPr/>
        </p:nvSpPr>
        <p:spPr>
          <a:xfrm>
            <a:off x="457200" y="4023360"/>
            <a:ext cx="5504688" cy="2148840"/>
          </a:xfrm>
          <a:prstGeom prst="roundRect">
            <a:avLst>
              <a:gd name="adj" fmla="val 3830"/>
            </a:avLst>
          </a:prstGeom>
          <a:solidFill>
            <a:srgbClr val="E8F6F9"/>
          </a:solidFill>
          <a:ln/>
          <a:effectLst>
            <a:outerShdw blurRad="76200" dist="25400" dir="5400000" algn="bl" rotWithShape="0">
              <a:srgbClr val="1B2229">
                <a:alpha val="12000"/>
              </a:srgbClr>
            </a:outerShdw>
          </a:effectLst>
        </p:spPr>
      </p:sp>
      <p:sp>
        <p:nvSpPr>
          <p:cNvPr id="10" name="Shape 8"/>
          <p:cNvSpPr/>
          <p:nvPr/>
        </p:nvSpPr>
        <p:spPr>
          <a:xfrm>
            <a:off x="694944" y="4242816"/>
            <a:ext cx="457200" cy="457200"/>
          </a:xfrm>
          <a:prstGeom prst="roundRect">
            <a:avLst>
              <a:gd name="adj" fmla="val 18000"/>
            </a:avLst>
          </a:prstGeom>
          <a:solidFill>
            <a:srgbClr val="1B2229"/>
          </a:solidFill>
          <a:ln/>
        </p:spPr>
      </p:sp>
      <p:sp>
        <p:nvSpPr>
          <p:cNvPr id="11" name="Text 9"/>
          <p:cNvSpPr/>
          <p:nvPr/>
        </p:nvSpPr>
        <p:spPr>
          <a:xfrm>
            <a:off x="694944" y="4242816"/>
            <a:ext cx="457200" cy="457200"/>
          </a:xfrm>
          <a:prstGeom prst="rect">
            <a:avLst/>
          </a:prstGeom>
          <a:noFill/>
          <a:ln/>
        </p:spPr>
        <p:txBody>
          <a:bodyPr wrap="square" lIns="0" tIns="0" rIns="0" bIns="0" rtlCol="0" anchor="ctr"/>
          <a:lstStyle/>
          <a:p>
            <a:pPr marL="0" indent="0" algn="ctr">
              <a:buNone/>
            </a:pPr>
            <a:r>
              <a:rPr lang="en-US" sz="1800" b="1" dirty="0">
                <a:solidFill>
                  <a:srgbClr val="BAEB56"/>
                </a:solidFill>
                <a:latin typeface="Calibri" pitchFamily="34" charset="0"/>
                <a:ea typeface="Calibri" pitchFamily="34" charset="-122"/>
                <a:cs typeface="Calibri" pitchFamily="34" charset="-120"/>
              </a:rPr>
              <a:t>01</a:t>
            </a:r>
            <a:endParaRPr lang="en-US" sz="1800" dirty="0"/>
          </a:p>
        </p:txBody>
      </p:sp>
      <p:sp>
        <p:nvSpPr>
          <p:cNvPr id="12" name="Text 10"/>
          <p:cNvSpPr/>
          <p:nvPr/>
        </p:nvSpPr>
        <p:spPr>
          <a:xfrm>
            <a:off x="694944" y="4846320"/>
            <a:ext cx="5029200" cy="566928"/>
          </a:xfrm>
          <a:prstGeom prst="rect">
            <a:avLst/>
          </a:prstGeom>
          <a:noFill/>
          <a:ln/>
        </p:spPr>
        <p:txBody>
          <a:bodyPr wrap="square" lIns="0" tIns="0" rIns="0" bIns="0" rtlCol="0" anchor="t"/>
          <a:lstStyle/>
          <a:p>
            <a:pPr marL="0" indent="0">
              <a:buNone/>
            </a:pPr>
            <a:r>
              <a:rPr lang="en-US" sz="1500" b="1" dirty="0">
                <a:solidFill>
                  <a:srgbClr val="1B2229"/>
                </a:solidFill>
                <a:latin typeface="Calibri" pitchFamily="34" charset="0"/>
                <a:ea typeface="Calibri" pitchFamily="34" charset="-122"/>
                <a:cs typeface="Calibri" pitchFamily="34" charset="-120"/>
              </a:rPr>
              <a:t>El fundador</a:t>
            </a:r>
            <a:endParaRPr lang="en-US" sz="1500" dirty="0"/>
          </a:p>
        </p:txBody>
      </p:sp>
      <p:sp>
        <p:nvSpPr>
          <p:cNvPr id="13" name="Text 11"/>
          <p:cNvSpPr/>
          <p:nvPr/>
        </p:nvSpPr>
        <p:spPr>
          <a:xfrm>
            <a:off x="694944" y="5394960"/>
            <a:ext cx="5029200" cy="594360"/>
          </a:xfrm>
          <a:prstGeom prst="rect">
            <a:avLst/>
          </a:prstGeom>
          <a:noFill/>
          <a:ln/>
        </p:spPr>
        <p:txBody>
          <a:bodyPr wrap="square" lIns="0" tIns="0" rIns="0" bIns="0" rtlCol="0" anchor="t"/>
          <a:lstStyle/>
          <a:p>
            <a:pPr marL="0" indent="0">
              <a:lnSpc>
                <a:spcPct val="115000"/>
              </a:lnSpc>
              <a:buNone/>
            </a:pPr>
            <a:r>
              <a:rPr lang="en-US" sz="1150" dirty="0">
                <a:solidFill>
                  <a:srgbClr val="5B6670"/>
                </a:solidFill>
                <a:latin typeface="Calibri" pitchFamily="34" charset="0"/>
                <a:ea typeface="Calibri" pitchFamily="34" charset="-122"/>
                <a:cs typeface="Calibri" pitchFamily="34" charset="-120"/>
              </a:rPr>
              <a:t>“Una estructura bien instalada, en un espacio verificado, frente a una audiencia real, no es solo un servicio — es una responsabilidad.” El porqué personal convertido en estándar de toda la empresa.</a:t>
            </a:r>
            <a:endParaRPr lang="en-US" sz="1150" dirty="0"/>
          </a:p>
        </p:txBody>
      </p:sp>
      <p:sp>
        <p:nvSpPr>
          <p:cNvPr id="14" name="Shape 12"/>
          <p:cNvSpPr/>
          <p:nvPr/>
        </p:nvSpPr>
        <p:spPr>
          <a:xfrm>
            <a:off x="6227064" y="4023360"/>
            <a:ext cx="5504688" cy="2148840"/>
          </a:xfrm>
          <a:prstGeom prst="roundRect">
            <a:avLst>
              <a:gd name="adj" fmla="val 3830"/>
            </a:avLst>
          </a:prstGeom>
          <a:solidFill>
            <a:srgbClr val="E8F6F9"/>
          </a:solidFill>
          <a:ln/>
          <a:effectLst>
            <a:outerShdw blurRad="76200" dist="25400" dir="5400000" algn="bl" rotWithShape="0">
              <a:srgbClr val="1B2229">
                <a:alpha val="12000"/>
              </a:srgbClr>
            </a:outerShdw>
          </a:effectLst>
        </p:spPr>
      </p:sp>
      <p:sp>
        <p:nvSpPr>
          <p:cNvPr id="15" name="Shape 13"/>
          <p:cNvSpPr/>
          <p:nvPr/>
        </p:nvSpPr>
        <p:spPr>
          <a:xfrm>
            <a:off x="6464808" y="4242816"/>
            <a:ext cx="457200" cy="457200"/>
          </a:xfrm>
          <a:prstGeom prst="roundRect">
            <a:avLst>
              <a:gd name="adj" fmla="val 18000"/>
            </a:avLst>
          </a:prstGeom>
          <a:solidFill>
            <a:srgbClr val="1B2229"/>
          </a:solidFill>
          <a:ln/>
        </p:spPr>
      </p:sp>
      <p:sp>
        <p:nvSpPr>
          <p:cNvPr id="16" name="Text 14"/>
          <p:cNvSpPr/>
          <p:nvPr/>
        </p:nvSpPr>
        <p:spPr>
          <a:xfrm>
            <a:off x="6464808" y="4242816"/>
            <a:ext cx="457200" cy="457200"/>
          </a:xfrm>
          <a:prstGeom prst="rect">
            <a:avLst/>
          </a:prstGeom>
          <a:noFill/>
          <a:ln/>
        </p:spPr>
        <p:txBody>
          <a:bodyPr wrap="square" lIns="0" tIns="0" rIns="0" bIns="0" rtlCol="0" anchor="ctr"/>
          <a:lstStyle/>
          <a:p>
            <a:pPr marL="0" indent="0" algn="ctr">
              <a:buNone/>
            </a:pPr>
            <a:r>
              <a:rPr lang="en-US" sz="1800" b="1" dirty="0">
                <a:solidFill>
                  <a:srgbClr val="BAEB56"/>
                </a:solidFill>
                <a:latin typeface="Calibri" pitchFamily="34" charset="0"/>
                <a:ea typeface="Calibri" pitchFamily="34" charset="-122"/>
                <a:cs typeface="Calibri" pitchFamily="34" charset="-120"/>
              </a:rPr>
              <a:t>02</a:t>
            </a:r>
            <a:endParaRPr lang="en-US" sz="1800" dirty="0"/>
          </a:p>
        </p:txBody>
      </p:sp>
      <p:sp>
        <p:nvSpPr>
          <p:cNvPr id="17" name="Text 15"/>
          <p:cNvSpPr/>
          <p:nvPr/>
        </p:nvSpPr>
        <p:spPr>
          <a:xfrm>
            <a:off x="6464808" y="4846320"/>
            <a:ext cx="5029200" cy="566928"/>
          </a:xfrm>
          <a:prstGeom prst="rect">
            <a:avLst/>
          </a:prstGeom>
          <a:noFill/>
          <a:ln/>
        </p:spPr>
        <p:txBody>
          <a:bodyPr wrap="square" lIns="0" tIns="0" rIns="0" bIns="0" rtlCol="0" anchor="t"/>
          <a:lstStyle/>
          <a:p>
            <a:pPr marL="0" indent="0">
              <a:buNone/>
            </a:pPr>
            <a:r>
              <a:rPr lang="en-US" sz="1500" b="1" dirty="0">
                <a:solidFill>
                  <a:srgbClr val="1B2229"/>
                </a:solidFill>
                <a:latin typeface="Calibri" pitchFamily="34" charset="0"/>
                <a:ea typeface="Calibri" pitchFamily="34" charset="-122"/>
                <a:cs typeface="Calibri" pitchFamily="34" charset="-120"/>
              </a:rPr>
              <a:t>Para cada uno de nosotros</a:t>
            </a:r>
            <a:endParaRPr lang="en-US" sz="1500" dirty="0"/>
          </a:p>
        </p:txBody>
      </p:sp>
      <p:sp>
        <p:nvSpPr>
          <p:cNvPr id="18" name="Text 16"/>
          <p:cNvSpPr/>
          <p:nvPr/>
        </p:nvSpPr>
        <p:spPr>
          <a:xfrm>
            <a:off x="6464808" y="5394960"/>
            <a:ext cx="5029200" cy="594360"/>
          </a:xfrm>
          <a:prstGeom prst="rect">
            <a:avLst/>
          </a:prstGeom>
          <a:noFill/>
          <a:ln/>
        </p:spPr>
        <p:txBody>
          <a:bodyPr wrap="square" lIns="0" tIns="0" rIns="0" bIns="0" rtlCol="0" anchor="t"/>
          <a:lstStyle/>
          <a:p>
            <a:pPr marL="0" indent="0">
              <a:lnSpc>
                <a:spcPct val="115000"/>
              </a:lnSpc>
              <a:buNone/>
            </a:pPr>
            <a:r>
              <a:rPr lang="en-US" sz="1150" dirty="0">
                <a:solidFill>
                  <a:srgbClr val="5B6670"/>
                </a:solidFill>
                <a:latin typeface="Calibri" pitchFamily="34" charset="0"/>
                <a:ea typeface="Calibri" pitchFamily="34" charset="-122"/>
                <a:cs typeface="Calibri" pitchFamily="34" charset="-120"/>
              </a:rPr>
              <a:t>No es lo que decimos — es lo que hacemos: cómo atendemos al cliente, cómo instalamos una campaña, cómo respondemos cuando algo falla. Cada persona del equipo es guardián de esta promesa.</a:t>
            </a:r>
            <a:endParaRPr lang="en-US" sz="1150" dirty="0"/>
          </a:p>
        </p:txBody>
      </p:sp>
      <p:sp>
        <p:nvSpPr>
          <p:cNvPr id="19" name="Text 17"/>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20" name="Text 18"/>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NUESTRA PROMESA</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Tres palabras, tres trabajos distintos</a:t>
            </a:r>
            <a:endParaRPr lang="en-US" sz="2700" dirty="0"/>
          </a:p>
        </p:txBody>
      </p:sp>
      <p:sp>
        <p:nvSpPr>
          <p:cNvPr id="5" name="Shape 3"/>
          <p:cNvSpPr/>
          <p:nvPr/>
        </p:nvSpPr>
        <p:spPr>
          <a:xfrm>
            <a:off x="457200" y="1600200"/>
            <a:ext cx="3529584" cy="2834640"/>
          </a:xfrm>
          <a:prstGeom prst="roundRect">
            <a:avLst>
              <a:gd name="adj" fmla="val 2903"/>
            </a:avLst>
          </a:prstGeom>
          <a:solidFill>
            <a:srgbClr val="E8F6F9"/>
          </a:solidFill>
          <a:ln/>
        </p:spPr>
      </p:sp>
      <p:sp>
        <p:nvSpPr>
          <p:cNvPr id="6" name="Text 4"/>
          <p:cNvSpPr/>
          <p:nvPr/>
        </p:nvSpPr>
        <p:spPr>
          <a:xfrm>
            <a:off x="713232" y="1856232"/>
            <a:ext cx="3017520" cy="640080"/>
          </a:xfrm>
          <a:prstGeom prst="rect">
            <a:avLst/>
          </a:prstGeom>
          <a:noFill/>
          <a:ln/>
        </p:spPr>
        <p:txBody>
          <a:bodyPr wrap="square" lIns="0" tIns="0" rIns="0" bIns="0" rtlCol="0" anchor="ctr"/>
          <a:lstStyle/>
          <a:p>
            <a:pPr marL="0" indent="0">
              <a:buNone/>
            </a:pPr>
            <a:r>
              <a:rPr lang="en-US" sz="3000" b="1" dirty="0">
                <a:solidFill>
                  <a:srgbClr val="4A798C"/>
                </a:solidFill>
                <a:latin typeface="Calibri" pitchFamily="34" charset="0"/>
                <a:ea typeface="Calibri" pitchFamily="34" charset="-122"/>
                <a:cs typeface="Calibri" pitchFamily="34" charset="-120"/>
              </a:rPr>
              <a:t>Visible.</a:t>
            </a:r>
            <a:endParaRPr lang="en-US" sz="3000" dirty="0"/>
          </a:p>
        </p:txBody>
      </p:sp>
      <p:sp>
        <p:nvSpPr>
          <p:cNvPr id="7" name="Text 5"/>
          <p:cNvSpPr/>
          <p:nvPr/>
        </p:nvSpPr>
        <p:spPr>
          <a:xfrm>
            <a:off x="713232" y="2560320"/>
            <a:ext cx="3017520" cy="1691640"/>
          </a:xfrm>
          <a:prstGeom prst="rect">
            <a:avLst/>
          </a:prstGeom>
          <a:noFill/>
          <a:ln/>
        </p:spPr>
        <p:txBody>
          <a:bodyPr wrap="square" lIns="0" tIns="0" rIns="0" bIns="0" rtlCol="0" anchor="t"/>
          <a:lstStyle/>
          <a:p>
            <a:pPr marL="0" indent="0">
              <a:lnSpc>
                <a:spcPct val="120000"/>
              </a:lnSpc>
              <a:buNone/>
            </a:pPr>
            <a:r>
              <a:rPr lang="en-US" sz="1200" dirty="0">
                <a:solidFill>
                  <a:srgbClr val="5B6670"/>
                </a:solidFill>
                <a:latin typeface="Calibri" pitchFamily="34" charset="0"/>
                <a:ea typeface="Calibri" pitchFamily="34" charset="-122"/>
                <a:cs typeface="Calibri" pitchFamily="34" charset="-120"/>
              </a:rPr>
              <a:t>La promesa básica: tu marca, presente en los corredores de alto tráfico. Resuelve el miedo de que la campaña no haya aparecido.</a:t>
            </a:r>
            <a:endParaRPr lang="en-US" sz="1200" dirty="0"/>
          </a:p>
        </p:txBody>
      </p:sp>
      <p:sp>
        <p:nvSpPr>
          <p:cNvPr id="8" name="Shape 6"/>
          <p:cNvSpPr/>
          <p:nvPr/>
        </p:nvSpPr>
        <p:spPr>
          <a:xfrm>
            <a:off x="4279392" y="1600200"/>
            <a:ext cx="3529584" cy="2834640"/>
          </a:xfrm>
          <a:prstGeom prst="roundRect">
            <a:avLst>
              <a:gd name="adj" fmla="val 2903"/>
            </a:avLst>
          </a:prstGeom>
          <a:solidFill>
            <a:srgbClr val="E8F6F9"/>
          </a:solidFill>
          <a:ln/>
        </p:spPr>
      </p:sp>
      <p:sp>
        <p:nvSpPr>
          <p:cNvPr id="9" name="Text 7"/>
          <p:cNvSpPr/>
          <p:nvPr/>
        </p:nvSpPr>
        <p:spPr>
          <a:xfrm>
            <a:off x="4535424" y="1856232"/>
            <a:ext cx="3017520" cy="640080"/>
          </a:xfrm>
          <a:prstGeom prst="rect">
            <a:avLst/>
          </a:prstGeom>
          <a:noFill/>
          <a:ln/>
        </p:spPr>
        <p:txBody>
          <a:bodyPr wrap="square" lIns="0" tIns="0" rIns="0" bIns="0" rtlCol="0" anchor="ctr"/>
          <a:lstStyle/>
          <a:p>
            <a:pPr marL="0" indent="0">
              <a:buNone/>
            </a:pPr>
            <a:r>
              <a:rPr lang="en-US" sz="3000" b="1" dirty="0">
                <a:solidFill>
                  <a:srgbClr val="4A798C"/>
                </a:solidFill>
                <a:latin typeface="Calibri" pitchFamily="34" charset="0"/>
                <a:ea typeface="Calibri" pitchFamily="34" charset="-122"/>
                <a:cs typeface="Calibri" pitchFamily="34" charset="-120"/>
              </a:rPr>
              <a:t>Verificable.</a:t>
            </a:r>
            <a:endParaRPr lang="en-US" sz="3000" dirty="0"/>
          </a:p>
        </p:txBody>
      </p:sp>
      <p:sp>
        <p:nvSpPr>
          <p:cNvPr id="10" name="Text 8"/>
          <p:cNvSpPr/>
          <p:nvPr/>
        </p:nvSpPr>
        <p:spPr>
          <a:xfrm>
            <a:off x="4535424" y="2560320"/>
            <a:ext cx="3017520" cy="1691640"/>
          </a:xfrm>
          <a:prstGeom prst="rect">
            <a:avLst/>
          </a:prstGeom>
          <a:noFill/>
          <a:ln/>
        </p:spPr>
        <p:txBody>
          <a:bodyPr wrap="square" lIns="0" tIns="0" rIns="0" bIns="0" rtlCol="0" anchor="t"/>
          <a:lstStyle/>
          <a:p>
            <a:pPr marL="0" indent="0">
              <a:lnSpc>
                <a:spcPct val="120000"/>
              </a:lnSpc>
              <a:buNone/>
            </a:pPr>
            <a:r>
              <a:rPr lang="en-US" sz="1200" dirty="0">
                <a:solidFill>
                  <a:srgbClr val="5B6670"/>
                </a:solidFill>
                <a:latin typeface="Calibri" pitchFamily="34" charset="0"/>
                <a:ea typeface="Calibri" pitchFamily="34" charset="-122"/>
                <a:cs typeface="Calibri" pitchFamily="34" charset="-120"/>
              </a:rPr>
              <a:t>El diferencial que solo VEO firma: no solo aparece, se puede comprobar con datos reales de Sitecam.</a:t>
            </a:r>
            <a:endParaRPr lang="en-US" sz="1200" dirty="0"/>
          </a:p>
        </p:txBody>
      </p:sp>
      <p:sp>
        <p:nvSpPr>
          <p:cNvPr id="11" name="Shape 9"/>
          <p:cNvSpPr/>
          <p:nvPr/>
        </p:nvSpPr>
        <p:spPr>
          <a:xfrm>
            <a:off x="8101584" y="1600200"/>
            <a:ext cx="3529584" cy="2834640"/>
          </a:xfrm>
          <a:prstGeom prst="roundRect">
            <a:avLst>
              <a:gd name="adj" fmla="val 2903"/>
            </a:avLst>
          </a:prstGeom>
          <a:solidFill>
            <a:srgbClr val="1B2229"/>
          </a:solidFill>
          <a:ln/>
        </p:spPr>
      </p:sp>
      <p:sp>
        <p:nvSpPr>
          <p:cNvPr id="12" name="Text 10"/>
          <p:cNvSpPr/>
          <p:nvPr/>
        </p:nvSpPr>
        <p:spPr>
          <a:xfrm>
            <a:off x="8357616" y="1856232"/>
            <a:ext cx="3017520" cy="640080"/>
          </a:xfrm>
          <a:prstGeom prst="rect">
            <a:avLst/>
          </a:prstGeom>
          <a:noFill/>
          <a:ln/>
        </p:spPr>
        <p:txBody>
          <a:bodyPr wrap="square" lIns="0" tIns="0" rIns="0" bIns="0" rtlCol="0" anchor="ctr"/>
          <a:lstStyle/>
          <a:p>
            <a:pPr marL="0" indent="0">
              <a:buNone/>
            </a:pPr>
            <a:r>
              <a:rPr lang="en-US" sz="3000" b="1" dirty="0">
                <a:solidFill>
                  <a:srgbClr val="BAEB56"/>
                </a:solidFill>
                <a:latin typeface="Calibri" pitchFamily="34" charset="0"/>
                <a:ea typeface="Calibri" pitchFamily="34" charset="-122"/>
                <a:cs typeface="Calibri" pitchFamily="34" charset="-120"/>
              </a:rPr>
              <a:t>VEO.</a:t>
            </a:r>
            <a:endParaRPr lang="en-US" sz="3000" dirty="0"/>
          </a:p>
        </p:txBody>
      </p:sp>
      <p:sp>
        <p:nvSpPr>
          <p:cNvPr id="13" name="Text 11"/>
          <p:cNvSpPr/>
          <p:nvPr/>
        </p:nvSpPr>
        <p:spPr>
          <a:xfrm>
            <a:off x="8357616" y="2560320"/>
            <a:ext cx="3017520" cy="1691640"/>
          </a:xfrm>
          <a:prstGeom prst="rect">
            <a:avLst/>
          </a:prstGeom>
          <a:noFill/>
          <a:ln/>
        </p:spPr>
        <p:txBody>
          <a:bodyPr wrap="square" lIns="0" tIns="0" rIns="0" bIns="0" rtlCol="0" anchor="t"/>
          <a:lstStyle/>
          <a:p>
            <a:pPr marL="0" indent="0">
              <a:lnSpc>
                <a:spcPct val="120000"/>
              </a:lnSpc>
              <a:buNone/>
            </a:pPr>
            <a:r>
              <a:rPr lang="en-US" sz="1200" dirty="0">
                <a:solidFill>
                  <a:srgbClr val="E8F6F9"/>
                </a:solidFill>
                <a:latin typeface="Calibri" pitchFamily="34" charset="0"/>
                <a:ea typeface="Calibri" pitchFamily="34" charset="-122"/>
                <a:cs typeface="Calibri" pitchFamily="34" charset="-120"/>
              </a:rPr>
              <a:t>El nombre cierra la frase. Somos el verbo ver, en primera persona: yo vi. Nadie más en el sector puede decir eso de su propio nombre.</a:t>
            </a:r>
            <a:endParaRPr lang="en-US" sz="1200" dirty="0"/>
          </a:p>
        </p:txBody>
      </p:sp>
      <p:sp>
        <p:nvSpPr>
          <p:cNvPr id="14" name="Text 12"/>
          <p:cNvSpPr/>
          <p:nvPr/>
        </p:nvSpPr>
        <p:spPr>
          <a:xfrm>
            <a:off x="457200" y="4709160"/>
            <a:ext cx="11274552" cy="502920"/>
          </a:xfrm>
          <a:prstGeom prst="rect">
            <a:avLst/>
          </a:prstGeom>
          <a:noFill/>
          <a:ln/>
        </p:spPr>
        <p:txBody>
          <a:bodyPr wrap="square" lIns="0" tIns="0" rIns="0" bIns="0" rtlCol="0" anchor="ctr"/>
          <a:lstStyle/>
          <a:p>
            <a:pPr marL="0" indent="0">
              <a:buNone/>
            </a:pPr>
            <a:r>
              <a:rPr lang="en-US" sz="1450" i="1" dirty="0">
                <a:solidFill>
                  <a:srgbClr val="4A798C"/>
                </a:solidFill>
                <a:latin typeface="Calibri" pitchFamily="34" charset="0"/>
                <a:ea typeface="Calibri" pitchFamily="34" charset="-122"/>
                <a:cs typeface="Calibri" pitchFamily="34" charset="-120"/>
              </a:rPr>
              <a:t>Somos el operador OOH y DOOH que cierra la brecha entre lo que se acuerda y lo que se puede demostrar.</a:t>
            </a:r>
            <a:endParaRPr lang="en-US" sz="1450" dirty="0"/>
          </a:p>
        </p:txBody>
      </p:sp>
      <p:sp>
        <p:nvSpPr>
          <p:cNvPr id="15" name="Text 13"/>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16" name="Text 14"/>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CÓMO LO HACEMOS</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Tres capacidades que nos distinguen hoy</a:t>
            </a:r>
            <a:endParaRPr lang="en-US" sz="2700" dirty="0"/>
          </a:p>
        </p:txBody>
      </p:sp>
      <p:sp>
        <p:nvSpPr>
          <p:cNvPr id="5" name="Shape 3"/>
          <p:cNvSpPr/>
          <p:nvPr/>
        </p:nvSpPr>
        <p:spPr>
          <a:xfrm>
            <a:off x="457200" y="1645920"/>
            <a:ext cx="3529584" cy="3657600"/>
          </a:xfrm>
          <a:prstGeom prst="roundRect">
            <a:avLst>
              <a:gd name="adj" fmla="val 2332"/>
            </a:avLst>
          </a:prstGeom>
          <a:solidFill>
            <a:srgbClr val="E8F6F9"/>
          </a:solidFill>
          <a:ln/>
          <a:effectLst>
            <a:outerShdw blurRad="76200" dist="25400" dir="5400000" algn="bl" rotWithShape="0">
              <a:srgbClr val="1B2229">
                <a:alpha val="12000"/>
              </a:srgbClr>
            </a:outerShdw>
          </a:effectLst>
        </p:spPr>
      </p:sp>
      <p:sp>
        <p:nvSpPr>
          <p:cNvPr id="6" name="Shape 4"/>
          <p:cNvSpPr/>
          <p:nvPr/>
        </p:nvSpPr>
        <p:spPr>
          <a:xfrm>
            <a:off x="694944" y="1865376"/>
            <a:ext cx="457200" cy="457200"/>
          </a:xfrm>
          <a:prstGeom prst="roundRect">
            <a:avLst>
              <a:gd name="adj" fmla="val 18000"/>
            </a:avLst>
          </a:prstGeom>
          <a:solidFill>
            <a:srgbClr val="1B2229"/>
          </a:solidFill>
          <a:ln/>
        </p:spPr>
      </p:sp>
      <p:sp>
        <p:nvSpPr>
          <p:cNvPr id="7" name="Text 5"/>
          <p:cNvSpPr/>
          <p:nvPr/>
        </p:nvSpPr>
        <p:spPr>
          <a:xfrm>
            <a:off x="694944" y="1865376"/>
            <a:ext cx="457200" cy="457200"/>
          </a:xfrm>
          <a:prstGeom prst="rect">
            <a:avLst/>
          </a:prstGeom>
          <a:noFill/>
          <a:ln/>
        </p:spPr>
        <p:txBody>
          <a:bodyPr wrap="square" lIns="0" tIns="0" rIns="0" bIns="0" rtlCol="0" anchor="ctr"/>
          <a:lstStyle/>
          <a:p>
            <a:pPr marL="0" indent="0" algn="ctr">
              <a:buNone/>
            </a:pPr>
            <a:r>
              <a:rPr lang="en-US" sz="1800" b="1" dirty="0">
                <a:solidFill>
                  <a:srgbClr val="BAEB56"/>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694944" y="2468880"/>
            <a:ext cx="3054096" cy="566928"/>
          </a:xfrm>
          <a:prstGeom prst="rect">
            <a:avLst/>
          </a:prstGeom>
          <a:noFill/>
          <a:ln/>
        </p:spPr>
        <p:txBody>
          <a:bodyPr wrap="square" lIns="0" tIns="0" rIns="0" bIns="0" rtlCol="0" anchor="t"/>
          <a:lstStyle/>
          <a:p>
            <a:pPr marL="0" indent="0">
              <a:buNone/>
            </a:pPr>
            <a:r>
              <a:rPr lang="en-US" sz="1500" b="1" dirty="0">
                <a:solidFill>
                  <a:srgbClr val="1B2229"/>
                </a:solidFill>
                <a:latin typeface="Calibri" pitchFamily="34" charset="0"/>
                <a:ea typeface="Calibri" pitchFamily="34" charset="-122"/>
                <a:cs typeface="Calibri" pitchFamily="34" charset="-120"/>
              </a:rPr>
              <a:t>Presencia visual inteligente</a:t>
            </a:r>
            <a:endParaRPr lang="en-US" sz="1500" dirty="0"/>
          </a:p>
        </p:txBody>
      </p:sp>
      <p:sp>
        <p:nvSpPr>
          <p:cNvPr id="9" name="Text 7"/>
          <p:cNvSpPr/>
          <p:nvPr/>
        </p:nvSpPr>
        <p:spPr>
          <a:xfrm>
            <a:off x="694944" y="3017520"/>
            <a:ext cx="3054096" cy="2103120"/>
          </a:xfrm>
          <a:prstGeom prst="rect">
            <a:avLst/>
          </a:prstGeom>
          <a:noFill/>
          <a:ln/>
        </p:spPr>
        <p:txBody>
          <a:bodyPr wrap="square" lIns="0" tIns="0" rIns="0" bIns="0" rtlCol="0" anchor="t"/>
          <a:lstStyle/>
          <a:p>
            <a:pPr marL="0" indent="0">
              <a:lnSpc>
                <a:spcPct val="115000"/>
              </a:lnSpc>
              <a:buNone/>
            </a:pPr>
            <a:r>
              <a:rPr lang="en-US" sz="1150" dirty="0">
                <a:solidFill>
                  <a:srgbClr val="5B6670"/>
                </a:solidFill>
                <a:latin typeface="Calibri" pitchFamily="34" charset="0"/>
                <a:ea typeface="Calibri" pitchFamily="34" charset="-122"/>
                <a:cs typeface="Calibri" pitchFamily="34" charset="-120"/>
              </a:rPr>
              <a:t>Una de las redes OOH/DOOH más extensas del país, gestionada con tecnología propia (Sitecam) que produce datos verificables de cada exhibición.</a:t>
            </a:r>
            <a:endParaRPr lang="en-US" sz="1150" dirty="0"/>
          </a:p>
        </p:txBody>
      </p:sp>
      <p:sp>
        <p:nvSpPr>
          <p:cNvPr id="10" name="Shape 8"/>
          <p:cNvSpPr/>
          <p:nvPr/>
        </p:nvSpPr>
        <p:spPr>
          <a:xfrm>
            <a:off x="4279392" y="1645920"/>
            <a:ext cx="3529584" cy="3657600"/>
          </a:xfrm>
          <a:prstGeom prst="roundRect">
            <a:avLst>
              <a:gd name="adj" fmla="val 2332"/>
            </a:avLst>
          </a:prstGeom>
          <a:solidFill>
            <a:srgbClr val="E8F6F9"/>
          </a:solidFill>
          <a:ln/>
          <a:effectLst>
            <a:outerShdw blurRad="76200" dist="25400" dir="5400000" algn="bl" rotWithShape="0">
              <a:srgbClr val="1B2229">
                <a:alpha val="12000"/>
              </a:srgbClr>
            </a:outerShdw>
          </a:effectLst>
        </p:spPr>
      </p:sp>
      <p:sp>
        <p:nvSpPr>
          <p:cNvPr id="11" name="Shape 9"/>
          <p:cNvSpPr/>
          <p:nvPr/>
        </p:nvSpPr>
        <p:spPr>
          <a:xfrm>
            <a:off x="4517136" y="1865376"/>
            <a:ext cx="457200" cy="457200"/>
          </a:xfrm>
          <a:prstGeom prst="roundRect">
            <a:avLst>
              <a:gd name="adj" fmla="val 18000"/>
            </a:avLst>
          </a:prstGeom>
          <a:solidFill>
            <a:srgbClr val="1B2229"/>
          </a:solidFill>
          <a:ln/>
        </p:spPr>
      </p:sp>
      <p:sp>
        <p:nvSpPr>
          <p:cNvPr id="12" name="Text 10"/>
          <p:cNvSpPr/>
          <p:nvPr/>
        </p:nvSpPr>
        <p:spPr>
          <a:xfrm>
            <a:off x="4517136" y="1865376"/>
            <a:ext cx="457200" cy="457200"/>
          </a:xfrm>
          <a:prstGeom prst="rect">
            <a:avLst/>
          </a:prstGeom>
          <a:noFill/>
          <a:ln/>
        </p:spPr>
        <p:txBody>
          <a:bodyPr wrap="square" lIns="0" tIns="0" rIns="0" bIns="0" rtlCol="0" anchor="ctr"/>
          <a:lstStyle/>
          <a:p>
            <a:pPr marL="0" indent="0" algn="ctr">
              <a:buNone/>
            </a:pPr>
            <a:r>
              <a:rPr lang="en-US" sz="1800" b="1" dirty="0">
                <a:solidFill>
                  <a:srgbClr val="BAEB56"/>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4517136" y="2468880"/>
            <a:ext cx="3054096" cy="566928"/>
          </a:xfrm>
          <a:prstGeom prst="rect">
            <a:avLst/>
          </a:prstGeom>
          <a:noFill/>
          <a:ln/>
        </p:spPr>
        <p:txBody>
          <a:bodyPr wrap="square" lIns="0" tIns="0" rIns="0" bIns="0" rtlCol="0" anchor="t"/>
          <a:lstStyle/>
          <a:p>
            <a:pPr marL="0" indent="0">
              <a:buNone/>
            </a:pPr>
            <a:r>
              <a:rPr lang="en-US" sz="1500" b="1" dirty="0">
                <a:solidFill>
                  <a:srgbClr val="1B2229"/>
                </a:solidFill>
                <a:latin typeface="Calibri" pitchFamily="34" charset="0"/>
                <a:ea typeface="Calibri" pitchFamily="34" charset="-122"/>
                <a:cs typeface="Calibri" pitchFamily="34" charset="-120"/>
              </a:rPr>
              <a:t>Agilidad con criterio y valor</a:t>
            </a:r>
            <a:endParaRPr lang="en-US" sz="1500" dirty="0"/>
          </a:p>
        </p:txBody>
      </p:sp>
      <p:sp>
        <p:nvSpPr>
          <p:cNvPr id="14" name="Text 12"/>
          <p:cNvSpPr/>
          <p:nvPr/>
        </p:nvSpPr>
        <p:spPr>
          <a:xfrm>
            <a:off x="4517136" y="3017520"/>
            <a:ext cx="3054096" cy="2103120"/>
          </a:xfrm>
          <a:prstGeom prst="rect">
            <a:avLst/>
          </a:prstGeom>
          <a:noFill/>
          <a:ln/>
        </p:spPr>
        <p:txBody>
          <a:bodyPr wrap="square" lIns="0" tIns="0" rIns="0" bIns="0" rtlCol="0" anchor="t"/>
          <a:lstStyle/>
          <a:p>
            <a:pPr marL="0" indent="0">
              <a:lnSpc>
                <a:spcPct val="115000"/>
              </a:lnSpc>
              <a:buNone/>
            </a:pPr>
            <a:r>
              <a:rPr lang="en-US" sz="1150" dirty="0">
                <a:solidFill>
                  <a:srgbClr val="5B6670"/>
                </a:solidFill>
                <a:latin typeface="Calibri" pitchFamily="34" charset="0"/>
                <a:ea typeface="Calibri" pitchFamily="34" charset="-122"/>
                <a:cs typeface="Calibri" pitchFamily="34" charset="-120"/>
              </a:rPr>
              <a:t>Optimizamos el plan según el objetivo real del cliente — no según qué inventario está disponible. Vendemos resultados, no espacios.</a:t>
            </a:r>
            <a:endParaRPr lang="en-US" sz="1150" dirty="0"/>
          </a:p>
        </p:txBody>
      </p:sp>
      <p:sp>
        <p:nvSpPr>
          <p:cNvPr id="15" name="Shape 13"/>
          <p:cNvSpPr/>
          <p:nvPr/>
        </p:nvSpPr>
        <p:spPr>
          <a:xfrm>
            <a:off x="8101584" y="1645920"/>
            <a:ext cx="3529584" cy="3657600"/>
          </a:xfrm>
          <a:prstGeom prst="roundRect">
            <a:avLst>
              <a:gd name="adj" fmla="val 2332"/>
            </a:avLst>
          </a:prstGeom>
          <a:solidFill>
            <a:srgbClr val="E8F6F9"/>
          </a:solidFill>
          <a:ln/>
          <a:effectLst>
            <a:outerShdw blurRad="76200" dist="25400" dir="5400000" algn="bl" rotWithShape="0">
              <a:srgbClr val="1B2229">
                <a:alpha val="12000"/>
              </a:srgbClr>
            </a:outerShdw>
          </a:effectLst>
        </p:spPr>
      </p:sp>
      <p:sp>
        <p:nvSpPr>
          <p:cNvPr id="16" name="Shape 14"/>
          <p:cNvSpPr/>
          <p:nvPr/>
        </p:nvSpPr>
        <p:spPr>
          <a:xfrm>
            <a:off x="8339328" y="1865376"/>
            <a:ext cx="457200" cy="457200"/>
          </a:xfrm>
          <a:prstGeom prst="roundRect">
            <a:avLst>
              <a:gd name="adj" fmla="val 18000"/>
            </a:avLst>
          </a:prstGeom>
          <a:solidFill>
            <a:srgbClr val="1B2229"/>
          </a:solidFill>
          <a:ln/>
        </p:spPr>
      </p:sp>
      <p:sp>
        <p:nvSpPr>
          <p:cNvPr id="17" name="Text 15"/>
          <p:cNvSpPr/>
          <p:nvPr/>
        </p:nvSpPr>
        <p:spPr>
          <a:xfrm>
            <a:off x="8339328" y="1865376"/>
            <a:ext cx="457200" cy="457200"/>
          </a:xfrm>
          <a:prstGeom prst="rect">
            <a:avLst/>
          </a:prstGeom>
          <a:noFill/>
          <a:ln/>
        </p:spPr>
        <p:txBody>
          <a:bodyPr wrap="square" lIns="0" tIns="0" rIns="0" bIns="0" rtlCol="0" anchor="ctr"/>
          <a:lstStyle/>
          <a:p>
            <a:pPr marL="0" indent="0" algn="ctr">
              <a:buNone/>
            </a:pPr>
            <a:r>
              <a:rPr lang="en-US" sz="1800" b="1" dirty="0">
                <a:solidFill>
                  <a:srgbClr val="BAEB56"/>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8339328" y="2468880"/>
            <a:ext cx="3054096" cy="566928"/>
          </a:xfrm>
          <a:prstGeom prst="rect">
            <a:avLst/>
          </a:prstGeom>
          <a:noFill/>
          <a:ln/>
        </p:spPr>
        <p:txBody>
          <a:bodyPr wrap="square" lIns="0" tIns="0" rIns="0" bIns="0" rtlCol="0" anchor="t"/>
          <a:lstStyle/>
          <a:p>
            <a:pPr marL="0" indent="0">
              <a:buNone/>
            </a:pPr>
            <a:r>
              <a:rPr lang="en-US" sz="1500" b="1" dirty="0">
                <a:solidFill>
                  <a:srgbClr val="1B2229"/>
                </a:solidFill>
                <a:latin typeface="Calibri" pitchFamily="34" charset="0"/>
                <a:ea typeface="Calibri" pitchFamily="34" charset="-122"/>
                <a:cs typeface="Calibri" pitchFamily="34" charset="-120"/>
              </a:rPr>
              <a:t>Equipo con criterio editorial</a:t>
            </a:r>
            <a:endParaRPr lang="en-US" sz="1500" dirty="0"/>
          </a:p>
        </p:txBody>
      </p:sp>
      <p:sp>
        <p:nvSpPr>
          <p:cNvPr id="19" name="Text 17"/>
          <p:cNvSpPr/>
          <p:nvPr/>
        </p:nvSpPr>
        <p:spPr>
          <a:xfrm>
            <a:off x="8339328" y="3017520"/>
            <a:ext cx="3054096" cy="2103120"/>
          </a:xfrm>
          <a:prstGeom prst="rect">
            <a:avLst/>
          </a:prstGeom>
          <a:noFill/>
          <a:ln/>
        </p:spPr>
        <p:txBody>
          <a:bodyPr wrap="square" lIns="0" tIns="0" rIns="0" bIns="0" rtlCol="0" anchor="t"/>
          <a:lstStyle/>
          <a:p>
            <a:pPr marL="0" indent="0">
              <a:lnSpc>
                <a:spcPct val="115000"/>
              </a:lnSpc>
              <a:buNone/>
            </a:pPr>
            <a:r>
              <a:rPr lang="en-US" sz="1150" dirty="0">
                <a:solidFill>
                  <a:srgbClr val="5B6670"/>
                </a:solidFill>
                <a:latin typeface="Calibri" pitchFamily="34" charset="0"/>
                <a:ea typeface="Calibri" pitchFamily="34" charset="-122"/>
                <a:cs typeface="Calibri" pitchFamily="34" charset="-120"/>
              </a:rPr>
              <a:t>Antes de aceptar una campaña, evaluamos si el mensaje y el espacio son coherentes. No todo lo que llena el inventario merece entrar.</a:t>
            </a:r>
            <a:endParaRPr lang="en-US" sz="1150" dirty="0"/>
          </a:p>
        </p:txBody>
      </p:sp>
      <p:sp>
        <p:nvSpPr>
          <p:cNvPr id="20" name="Text 18"/>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21" name="Text 19"/>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CULTURA</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Los cuatro valores que nos rigen</a:t>
            </a:r>
            <a:endParaRPr lang="en-US" sz="2700" dirty="0"/>
          </a:p>
        </p:txBody>
      </p:sp>
      <p:sp>
        <p:nvSpPr>
          <p:cNvPr id="5" name="Shape 3"/>
          <p:cNvSpPr/>
          <p:nvPr/>
        </p:nvSpPr>
        <p:spPr>
          <a:xfrm>
            <a:off x="457200" y="1591056"/>
            <a:ext cx="11274552" cy="1005840"/>
          </a:xfrm>
          <a:prstGeom prst="roundRect">
            <a:avLst>
              <a:gd name="adj" fmla="val 5455"/>
            </a:avLst>
          </a:prstGeom>
          <a:solidFill>
            <a:srgbClr val="E8F6F9"/>
          </a:solidFill>
          <a:ln/>
        </p:spPr>
      </p:sp>
      <p:sp>
        <p:nvSpPr>
          <p:cNvPr id="6" name="Shape 4"/>
          <p:cNvSpPr/>
          <p:nvPr/>
        </p:nvSpPr>
        <p:spPr>
          <a:xfrm>
            <a:off x="658368" y="1792224"/>
            <a:ext cx="365760" cy="365760"/>
          </a:xfrm>
          <a:prstGeom prst="roundRect">
            <a:avLst>
              <a:gd name="adj" fmla="val 20000"/>
            </a:avLst>
          </a:prstGeom>
          <a:solidFill>
            <a:srgbClr val="1B2229"/>
          </a:solidFill>
          <a:ln/>
        </p:spPr>
      </p:sp>
      <p:sp>
        <p:nvSpPr>
          <p:cNvPr id="7" name="Text 5"/>
          <p:cNvSpPr/>
          <p:nvPr/>
        </p:nvSpPr>
        <p:spPr>
          <a:xfrm>
            <a:off x="658368" y="1792224"/>
            <a:ext cx="365760" cy="365760"/>
          </a:xfrm>
          <a:prstGeom prst="rect">
            <a:avLst/>
          </a:prstGeom>
          <a:noFill/>
          <a:ln/>
        </p:spPr>
        <p:txBody>
          <a:bodyPr wrap="square" lIns="0" tIns="0" rIns="0" bIns="0" rtlCol="0" anchor="ctr"/>
          <a:lstStyle/>
          <a:p>
            <a:pPr marL="0" indent="0" algn="ctr">
              <a:buNone/>
            </a:pPr>
            <a:r>
              <a:rPr lang="en-US" sz="1500" b="1" dirty="0">
                <a:solidFill>
                  <a:srgbClr val="BAEB56"/>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234440" y="1645920"/>
            <a:ext cx="4480560" cy="969264"/>
          </a:xfrm>
          <a:prstGeom prst="rect">
            <a:avLst/>
          </a:prstGeom>
          <a:noFill/>
          <a:ln/>
        </p:spPr>
        <p:txBody>
          <a:bodyPr wrap="square" lIns="0" tIns="0" rIns="0" bIns="0" rtlCol="0" anchor="ctr"/>
          <a:lstStyle/>
          <a:p>
            <a:pPr marL="0" indent="0">
              <a:lnSpc>
                <a:spcPct val="110000"/>
              </a:lnSpc>
              <a:buNone/>
            </a:pPr>
            <a:r>
              <a:rPr lang="en-US" sz="1450" b="1" dirty="0">
                <a:solidFill>
                  <a:srgbClr val="1B2229"/>
                </a:solidFill>
                <a:latin typeface="Calibri" pitchFamily="34" charset="0"/>
                <a:ea typeface="Calibri" pitchFamily="34" charset="-122"/>
                <a:cs typeface="Calibri" pitchFamily="34" charset="-120"/>
              </a:rPr>
              <a:t>Pasión por lo que hacemos</a:t>
            </a:r>
            <a:endParaRPr lang="en-US" sz="1450" dirty="0"/>
          </a:p>
        </p:txBody>
      </p:sp>
      <p:sp>
        <p:nvSpPr>
          <p:cNvPr id="9" name="Text 7"/>
          <p:cNvSpPr/>
          <p:nvPr/>
        </p:nvSpPr>
        <p:spPr>
          <a:xfrm>
            <a:off x="5852160" y="1645920"/>
            <a:ext cx="5760720" cy="969264"/>
          </a:xfrm>
          <a:prstGeom prst="rect">
            <a:avLst/>
          </a:prstGeom>
          <a:noFill/>
          <a:ln/>
        </p:spPr>
        <p:txBody>
          <a:bodyPr wrap="square" lIns="0" tIns="0" rIns="0" bIns="0" rtlCol="0" anchor="ctr"/>
          <a:lstStyle/>
          <a:p>
            <a:pPr marL="0" indent="0">
              <a:lnSpc>
                <a:spcPct val="110000"/>
              </a:lnSpc>
              <a:buNone/>
            </a:pPr>
            <a:r>
              <a:rPr lang="en-US" sz="1250" i="1" dirty="0">
                <a:solidFill>
                  <a:srgbClr val="5B6670"/>
                </a:solidFill>
                <a:latin typeface="Calibri" pitchFamily="34" charset="0"/>
                <a:ea typeface="Calibri" pitchFamily="34" charset="-122"/>
                <a:cs typeface="Calibri" pitchFamily="34" charset="-120"/>
              </a:rPr>
              <a:t>¿Estoy haciendo esto con el mismo nivel de detalle que si el cliente estuviera presente?</a:t>
            </a:r>
            <a:endParaRPr lang="en-US" sz="1250" dirty="0"/>
          </a:p>
        </p:txBody>
      </p:sp>
      <p:sp>
        <p:nvSpPr>
          <p:cNvPr id="10" name="Shape 8"/>
          <p:cNvSpPr/>
          <p:nvPr/>
        </p:nvSpPr>
        <p:spPr>
          <a:xfrm>
            <a:off x="658368" y="2871216"/>
            <a:ext cx="365760" cy="365760"/>
          </a:xfrm>
          <a:prstGeom prst="roundRect">
            <a:avLst>
              <a:gd name="adj" fmla="val 20000"/>
            </a:avLst>
          </a:prstGeom>
          <a:solidFill>
            <a:srgbClr val="1B2229"/>
          </a:solidFill>
          <a:ln/>
        </p:spPr>
      </p:sp>
      <p:sp>
        <p:nvSpPr>
          <p:cNvPr id="11" name="Text 9"/>
          <p:cNvSpPr/>
          <p:nvPr/>
        </p:nvSpPr>
        <p:spPr>
          <a:xfrm>
            <a:off x="658368" y="2871216"/>
            <a:ext cx="365760" cy="365760"/>
          </a:xfrm>
          <a:prstGeom prst="rect">
            <a:avLst/>
          </a:prstGeom>
          <a:noFill/>
          <a:ln/>
        </p:spPr>
        <p:txBody>
          <a:bodyPr wrap="square" lIns="0" tIns="0" rIns="0" bIns="0" rtlCol="0" anchor="ctr"/>
          <a:lstStyle/>
          <a:p>
            <a:pPr marL="0" indent="0" algn="ctr">
              <a:buNone/>
            </a:pPr>
            <a:r>
              <a:rPr lang="en-US" sz="1500" b="1" dirty="0">
                <a:solidFill>
                  <a:srgbClr val="BAEB56"/>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34440" y="2724912"/>
            <a:ext cx="4480560" cy="969264"/>
          </a:xfrm>
          <a:prstGeom prst="rect">
            <a:avLst/>
          </a:prstGeom>
          <a:noFill/>
          <a:ln/>
        </p:spPr>
        <p:txBody>
          <a:bodyPr wrap="square" lIns="0" tIns="0" rIns="0" bIns="0" rtlCol="0" anchor="ctr"/>
          <a:lstStyle/>
          <a:p>
            <a:pPr marL="0" indent="0">
              <a:lnSpc>
                <a:spcPct val="110000"/>
              </a:lnSpc>
              <a:buNone/>
            </a:pPr>
            <a:r>
              <a:rPr lang="en-US" sz="1450" b="1" dirty="0">
                <a:solidFill>
                  <a:srgbClr val="1B2229"/>
                </a:solidFill>
                <a:latin typeface="Calibri" pitchFamily="34" charset="0"/>
                <a:ea typeface="Calibri" pitchFamily="34" charset="-122"/>
                <a:cs typeface="Calibri" pitchFamily="34" charset="-120"/>
              </a:rPr>
              <a:t>Con hambre de crecer</a:t>
            </a:r>
            <a:endParaRPr lang="en-US" sz="1450" dirty="0"/>
          </a:p>
        </p:txBody>
      </p:sp>
      <p:sp>
        <p:nvSpPr>
          <p:cNvPr id="13" name="Text 11"/>
          <p:cNvSpPr/>
          <p:nvPr/>
        </p:nvSpPr>
        <p:spPr>
          <a:xfrm>
            <a:off x="5852160" y="2724912"/>
            <a:ext cx="5760720" cy="969264"/>
          </a:xfrm>
          <a:prstGeom prst="rect">
            <a:avLst/>
          </a:prstGeom>
          <a:noFill/>
          <a:ln/>
        </p:spPr>
        <p:txBody>
          <a:bodyPr wrap="square" lIns="0" tIns="0" rIns="0" bIns="0" rtlCol="0" anchor="ctr"/>
          <a:lstStyle/>
          <a:p>
            <a:pPr marL="0" indent="0">
              <a:lnSpc>
                <a:spcPct val="110000"/>
              </a:lnSpc>
              <a:buNone/>
            </a:pPr>
            <a:r>
              <a:rPr lang="en-US" sz="1250" i="1" dirty="0">
                <a:solidFill>
                  <a:srgbClr val="5B6670"/>
                </a:solidFill>
                <a:latin typeface="Calibri" pitchFamily="34" charset="0"/>
                <a:ea typeface="Calibri" pitchFamily="34" charset="-122"/>
                <a:cs typeface="Calibri" pitchFamily="34" charset="-120"/>
              </a:rPr>
              <a:t>¿Estoy buscando activamente cómo mejorar mi desempeño, o espero que me lo digan?</a:t>
            </a:r>
            <a:endParaRPr lang="en-US" sz="1250" dirty="0"/>
          </a:p>
        </p:txBody>
      </p:sp>
      <p:sp>
        <p:nvSpPr>
          <p:cNvPr id="14" name="Shape 12"/>
          <p:cNvSpPr/>
          <p:nvPr/>
        </p:nvSpPr>
        <p:spPr>
          <a:xfrm>
            <a:off x="457200" y="3749040"/>
            <a:ext cx="11274552" cy="1005840"/>
          </a:xfrm>
          <a:prstGeom prst="roundRect">
            <a:avLst>
              <a:gd name="adj" fmla="val 5455"/>
            </a:avLst>
          </a:prstGeom>
          <a:solidFill>
            <a:srgbClr val="E8F6F9"/>
          </a:solidFill>
          <a:ln/>
        </p:spPr>
      </p:sp>
      <p:sp>
        <p:nvSpPr>
          <p:cNvPr id="15" name="Shape 13"/>
          <p:cNvSpPr/>
          <p:nvPr/>
        </p:nvSpPr>
        <p:spPr>
          <a:xfrm>
            <a:off x="658368" y="3950208"/>
            <a:ext cx="365760" cy="365760"/>
          </a:xfrm>
          <a:prstGeom prst="roundRect">
            <a:avLst>
              <a:gd name="adj" fmla="val 20000"/>
            </a:avLst>
          </a:prstGeom>
          <a:solidFill>
            <a:srgbClr val="1B2229"/>
          </a:solidFill>
          <a:ln/>
        </p:spPr>
      </p:sp>
      <p:sp>
        <p:nvSpPr>
          <p:cNvPr id="16" name="Text 14"/>
          <p:cNvSpPr/>
          <p:nvPr/>
        </p:nvSpPr>
        <p:spPr>
          <a:xfrm>
            <a:off x="658368" y="3950208"/>
            <a:ext cx="365760" cy="365760"/>
          </a:xfrm>
          <a:prstGeom prst="rect">
            <a:avLst/>
          </a:prstGeom>
          <a:noFill/>
          <a:ln/>
        </p:spPr>
        <p:txBody>
          <a:bodyPr wrap="square" lIns="0" tIns="0" rIns="0" bIns="0" rtlCol="0" anchor="ctr"/>
          <a:lstStyle/>
          <a:p>
            <a:pPr marL="0" indent="0" algn="ctr">
              <a:buNone/>
            </a:pPr>
            <a:r>
              <a:rPr lang="en-US" sz="1500" b="1" dirty="0">
                <a:solidFill>
                  <a:srgbClr val="BAEB56"/>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34440" y="3803904"/>
            <a:ext cx="4480560" cy="969264"/>
          </a:xfrm>
          <a:prstGeom prst="rect">
            <a:avLst/>
          </a:prstGeom>
          <a:noFill/>
          <a:ln/>
        </p:spPr>
        <p:txBody>
          <a:bodyPr wrap="square" lIns="0" tIns="0" rIns="0" bIns="0" rtlCol="0" anchor="ctr"/>
          <a:lstStyle/>
          <a:p>
            <a:pPr marL="0" indent="0">
              <a:lnSpc>
                <a:spcPct val="110000"/>
              </a:lnSpc>
              <a:buNone/>
            </a:pPr>
            <a:r>
              <a:rPr lang="en-US" sz="1450" b="1" dirty="0">
                <a:solidFill>
                  <a:srgbClr val="1B2229"/>
                </a:solidFill>
                <a:latin typeface="Calibri" pitchFamily="34" charset="0"/>
                <a:ea typeface="Calibri" pitchFamily="34" charset="-122"/>
                <a:cs typeface="Calibri" pitchFamily="34" charset="-120"/>
              </a:rPr>
              <a:t>Responsables de nuestros compromisos</a:t>
            </a:r>
            <a:endParaRPr lang="en-US" sz="1450" dirty="0"/>
          </a:p>
        </p:txBody>
      </p:sp>
      <p:sp>
        <p:nvSpPr>
          <p:cNvPr id="18" name="Text 16"/>
          <p:cNvSpPr/>
          <p:nvPr/>
        </p:nvSpPr>
        <p:spPr>
          <a:xfrm>
            <a:off x="5852160" y="3803904"/>
            <a:ext cx="5760720" cy="969264"/>
          </a:xfrm>
          <a:prstGeom prst="rect">
            <a:avLst/>
          </a:prstGeom>
          <a:noFill/>
          <a:ln/>
        </p:spPr>
        <p:txBody>
          <a:bodyPr wrap="square" lIns="0" tIns="0" rIns="0" bIns="0" rtlCol="0" anchor="ctr"/>
          <a:lstStyle/>
          <a:p>
            <a:pPr marL="0" indent="0">
              <a:lnSpc>
                <a:spcPct val="110000"/>
              </a:lnSpc>
              <a:buNone/>
            </a:pPr>
            <a:r>
              <a:rPr lang="en-US" sz="1250" i="1" dirty="0">
                <a:solidFill>
                  <a:srgbClr val="5B6670"/>
                </a:solidFill>
                <a:latin typeface="Calibri" pitchFamily="34" charset="0"/>
                <a:ea typeface="Calibri" pitchFamily="34" charset="-122"/>
                <a:cs typeface="Calibri" pitchFamily="34" charset="-120"/>
              </a:rPr>
              <a:t>¿Estoy reportando el problema, o estoy reportando el problema y la solución?</a:t>
            </a:r>
            <a:endParaRPr lang="en-US" sz="1250" dirty="0"/>
          </a:p>
        </p:txBody>
      </p:sp>
      <p:sp>
        <p:nvSpPr>
          <p:cNvPr id="19" name="Shape 17"/>
          <p:cNvSpPr/>
          <p:nvPr/>
        </p:nvSpPr>
        <p:spPr>
          <a:xfrm>
            <a:off x="658368" y="5029200"/>
            <a:ext cx="365760" cy="365760"/>
          </a:xfrm>
          <a:prstGeom prst="roundRect">
            <a:avLst>
              <a:gd name="adj" fmla="val 20000"/>
            </a:avLst>
          </a:prstGeom>
          <a:solidFill>
            <a:srgbClr val="1B2229"/>
          </a:solidFill>
          <a:ln/>
        </p:spPr>
      </p:sp>
      <p:sp>
        <p:nvSpPr>
          <p:cNvPr id="20" name="Text 18"/>
          <p:cNvSpPr/>
          <p:nvPr/>
        </p:nvSpPr>
        <p:spPr>
          <a:xfrm>
            <a:off x="658368" y="5029200"/>
            <a:ext cx="365760" cy="365760"/>
          </a:xfrm>
          <a:prstGeom prst="rect">
            <a:avLst/>
          </a:prstGeom>
          <a:noFill/>
          <a:ln/>
        </p:spPr>
        <p:txBody>
          <a:bodyPr wrap="square" lIns="0" tIns="0" rIns="0" bIns="0" rtlCol="0" anchor="ctr"/>
          <a:lstStyle/>
          <a:p>
            <a:pPr marL="0" indent="0" algn="ctr">
              <a:buNone/>
            </a:pPr>
            <a:r>
              <a:rPr lang="en-US" sz="1500" b="1" dirty="0">
                <a:solidFill>
                  <a:srgbClr val="BAEB56"/>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234440" y="4882896"/>
            <a:ext cx="4480560" cy="969264"/>
          </a:xfrm>
          <a:prstGeom prst="rect">
            <a:avLst/>
          </a:prstGeom>
          <a:noFill/>
          <a:ln/>
        </p:spPr>
        <p:txBody>
          <a:bodyPr wrap="square" lIns="0" tIns="0" rIns="0" bIns="0" rtlCol="0" anchor="ctr"/>
          <a:lstStyle/>
          <a:p>
            <a:pPr marL="0" indent="0">
              <a:lnSpc>
                <a:spcPct val="110000"/>
              </a:lnSpc>
              <a:buNone/>
            </a:pPr>
            <a:r>
              <a:rPr lang="en-US" sz="1450" b="1" dirty="0">
                <a:solidFill>
                  <a:srgbClr val="1B2229"/>
                </a:solidFill>
                <a:latin typeface="Calibri" pitchFamily="34" charset="0"/>
                <a:ea typeface="Calibri" pitchFamily="34" charset="-122"/>
                <a:cs typeface="Calibri" pitchFamily="34" charset="-120"/>
              </a:rPr>
              <a:t>Nos cuidamos entre nosotros</a:t>
            </a:r>
            <a:endParaRPr lang="en-US" sz="1450" dirty="0"/>
          </a:p>
        </p:txBody>
      </p:sp>
      <p:sp>
        <p:nvSpPr>
          <p:cNvPr id="22" name="Text 20"/>
          <p:cNvSpPr/>
          <p:nvPr/>
        </p:nvSpPr>
        <p:spPr>
          <a:xfrm>
            <a:off x="5852160" y="4882896"/>
            <a:ext cx="5760720" cy="969264"/>
          </a:xfrm>
          <a:prstGeom prst="rect">
            <a:avLst/>
          </a:prstGeom>
          <a:noFill/>
          <a:ln/>
        </p:spPr>
        <p:txBody>
          <a:bodyPr wrap="square" lIns="0" tIns="0" rIns="0" bIns="0" rtlCol="0" anchor="ctr"/>
          <a:lstStyle/>
          <a:p>
            <a:pPr marL="0" indent="0">
              <a:lnSpc>
                <a:spcPct val="110000"/>
              </a:lnSpc>
              <a:buNone/>
            </a:pPr>
            <a:r>
              <a:rPr lang="en-US" sz="1250" i="1" dirty="0">
                <a:solidFill>
                  <a:srgbClr val="5B6670"/>
                </a:solidFill>
                <a:latin typeface="Calibri" pitchFamily="34" charset="0"/>
                <a:ea typeface="Calibri" pitchFamily="34" charset="-122"/>
                <a:cs typeface="Calibri" pitchFamily="34" charset="-120"/>
              </a:rPr>
              <a:t>¿El estándar de mi trabajo protege o compromete el trabajo de mis compañeros?</a:t>
            </a:r>
            <a:endParaRPr lang="en-US" sz="1250" dirty="0"/>
          </a:p>
        </p:txBody>
      </p:sp>
      <p:sp>
        <p:nvSpPr>
          <p:cNvPr id="23" name="Text 21"/>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24" name="Text 22"/>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VOZ Y TONO</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Directo, técnico, confiable, con energía de ejecución</a:t>
            </a:r>
            <a:endParaRPr lang="en-US" sz="2700" dirty="0"/>
          </a:p>
        </p:txBody>
      </p:sp>
      <p:sp>
        <p:nvSpPr>
          <p:cNvPr id="5" name="Shape 3"/>
          <p:cNvSpPr/>
          <p:nvPr/>
        </p:nvSpPr>
        <p:spPr>
          <a:xfrm>
            <a:off x="457200" y="1600200"/>
            <a:ext cx="2697480" cy="1554480"/>
          </a:xfrm>
          <a:prstGeom prst="roundRect">
            <a:avLst>
              <a:gd name="adj" fmla="val 5294"/>
            </a:avLst>
          </a:prstGeom>
          <a:solidFill>
            <a:srgbClr val="E8F6F9"/>
          </a:solidFill>
          <a:ln/>
        </p:spPr>
      </p:sp>
      <p:sp>
        <p:nvSpPr>
          <p:cNvPr id="6" name="Text 4"/>
          <p:cNvSpPr/>
          <p:nvPr/>
        </p:nvSpPr>
        <p:spPr>
          <a:xfrm>
            <a:off x="658368" y="1764792"/>
            <a:ext cx="2295144" cy="658368"/>
          </a:xfrm>
          <a:prstGeom prst="rect">
            <a:avLst/>
          </a:prstGeom>
          <a:noFill/>
          <a:ln/>
        </p:spPr>
        <p:txBody>
          <a:bodyPr wrap="square" lIns="0" tIns="0" rIns="0" bIns="0" rtlCol="0" anchor="t"/>
          <a:lstStyle/>
          <a:p>
            <a:pPr marL="0" indent="0">
              <a:lnSpc>
                <a:spcPct val="105000"/>
              </a:lnSpc>
              <a:buNone/>
            </a:pPr>
            <a:r>
              <a:rPr lang="en-US" sz="1350" b="1" dirty="0">
                <a:solidFill>
                  <a:srgbClr val="1B2229"/>
                </a:solidFill>
                <a:latin typeface="Calibri" pitchFamily="34" charset="0"/>
                <a:ea typeface="Calibri" pitchFamily="34" charset="-122"/>
                <a:cs typeface="Calibri" pitchFamily="34" charset="-120"/>
              </a:rPr>
              <a:t>Directo sin ser brusco</a:t>
            </a:r>
            <a:endParaRPr lang="en-US" sz="1350" dirty="0"/>
          </a:p>
        </p:txBody>
      </p:sp>
      <p:sp>
        <p:nvSpPr>
          <p:cNvPr id="7" name="Text 5"/>
          <p:cNvSpPr/>
          <p:nvPr/>
        </p:nvSpPr>
        <p:spPr>
          <a:xfrm>
            <a:off x="658368" y="2441448"/>
            <a:ext cx="2295144" cy="594360"/>
          </a:xfrm>
          <a:prstGeom prst="rect">
            <a:avLst/>
          </a:prstGeom>
          <a:noFill/>
          <a:ln/>
        </p:spPr>
        <p:txBody>
          <a:bodyPr wrap="square" lIns="0" tIns="0" rIns="0" bIns="0" rtlCol="0" anchor="t"/>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Llega con una conclusión, no con opciones.</a:t>
            </a:r>
            <a:endParaRPr lang="en-US" sz="1050" dirty="0"/>
          </a:p>
        </p:txBody>
      </p:sp>
      <p:sp>
        <p:nvSpPr>
          <p:cNvPr id="8" name="Shape 6"/>
          <p:cNvSpPr/>
          <p:nvPr/>
        </p:nvSpPr>
        <p:spPr>
          <a:xfrm>
            <a:off x="3337560" y="1600200"/>
            <a:ext cx="2697480" cy="1554480"/>
          </a:xfrm>
          <a:prstGeom prst="roundRect">
            <a:avLst>
              <a:gd name="adj" fmla="val 5294"/>
            </a:avLst>
          </a:prstGeom>
          <a:solidFill>
            <a:srgbClr val="E8F6F9"/>
          </a:solidFill>
          <a:ln/>
        </p:spPr>
      </p:sp>
      <p:sp>
        <p:nvSpPr>
          <p:cNvPr id="9" name="Text 7"/>
          <p:cNvSpPr/>
          <p:nvPr/>
        </p:nvSpPr>
        <p:spPr>
          <a:xfrm>
            <a:off x="3538728" y="1764792"/>
            <a:ext cx="2295144" cy="658368"/>
          </a:xfrm>
          <a:prstGeom prst="rect">
            <a:avLst/>
          </a:prstGeom>
          <a:noFill/>
          <a:ln/>
        </p:spPr>
        <p:txBody>
          <a:bodyPr wrap="square" lIns="0" tIns="0" rIns="0" bIns="0" rtlCol="0" anchor="t"/>
          <a:lstStyle/>
          <a:p>
            <a:pPr marL="0" indent="0">
              <a:lnSpc>
                <a:spcPct val="105000"/>
              </a:lnSpc>
              <a:buNone/>
            </a:pPr>
            <a:r>
              <a:rPr lang="en-US" sz="1350" b="1" dirty="0">
                <a:solidFill>
                  <a:srgbClr val="1B2229"/>
                </a:solidFill>
                <a:latin typeface="Calibri" pitchFamily="34" charset="0"/>
                <a:ea typeface="Calibri" pitchFamily="34" charset="-122"/>
                <a:cs typeface="Calibri" pitchFamily="34" charset="-120"/>
              </a:rPr>
              <a:t>Técnico sin ser inaccesible</a:t>
            </a:r>
            <a:endParaRPr lang="en-US" sz="1350" dirty="0"/>
          </a:p>
        </p:txBody>
      </p:sp>
      <p:sp>
        <p:nvSpPr>
          <p:cNvPr id="10" name="Text 8"/>
          <p:cNvSpPr/>
          <p:nvPr/>
        </p:nvSpPr>
        <p:spPr>
          <a:xfrm>
            <a:off x="3538728" y="2441448"/>
            <a:ext cx="2295144" cy="594360"/>
          </a:xfrm>
          <a:prstGeom prst="rect">
            <a:avLst/>
          </a:prstGeom>
          <a:noFill/>
          <a:ln/>
        </p:spPr>
        <p:txBody>
          <a:bodyPr wrap="square" lIns="0" tIns="0" rIns="0" bIns="0" rtlCol="0" anchor="t"/>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Traduce los datos al idioma del cliente.</a:t>
            </a:r>
            <a:endParaRPr lang="en-US" sz="1050" dirty="0"/>
          </a:p>
        </p:txBody>
      </p:sp>
      <p:sp>
        <p:nvSpPr>
          <p:cNvPr id="11" name="Shape 9"/>
          <p:cNvSpPr/>
          <p:nvPr/>
        </p:nvSpPr>
        <p:spPr>
          <a:xfrm>
            <a:off x="6217920" y="1600200"/>
            <a:ext cx="2697480" cy="1554480"/>
          </a:xfrm>
          <a:prstGeom prst="roundRect">
            <a:avLst>
              <a:gd name="adj" fmla="val 5294"/>
            </a:avLst>
          </a:prstGeom>
          <a:solidFill>
            <a:srgbClr val="E8F6F9"/>
          </a:solidFill>
          <a:ln/>
        </p:spPr>
      </p:sp>
      <p:sp>
        <p:nvSpPr>
          <p:cNvPr id="12" name="Text 10"/>
          <p:cNvSpPr/>
          <p:nvPr/>
        </p:nvSpPr>
        <p:spPr>
          <a:xfrm>
            <a:off x="6419088" y="1764792"/>
            <a:ext cx="2295144" cy="658368"/>
          </a:xfrm>
          <a:prstGeom prst="rect">
            <a:avLst/>
          </a:prstGeom>
          <a:noFill/>
          <a:ln/>
        </p:spPr>
        <p:txBody>
          <a:bodyPr wrap="square" lIns="0" tIns="0" rIns="0" bIns="0" rtlCol="0" anchor="t"/>
          <a:lstStyle/>
          <a:p>
            <a:pPr marL="0" indent="0">
              <a:lnSpc>
                <a:spcPct val="105000"/>
              </a:lnSpc>
              <a:buNone/>
            </a:pPr>
            <a:r>
              <a:rPr lang="en-US" sz="1350" b="1" dirty="0">
                <a:solidFill>
                  <a:srgbClr val="1B2229"/>
                </a:solidFill>
                <a:latin typeface="Calibri" pitchFamily="34" charset="0"/>
                <a:ea typeface="Calibri" pitchFamily="34" charset="-122"/>
                <a:cs typeface="Calibri" pitchFamily="34" charset="-120"/>
              </a:rPr>
              <a:t>Confiable porque lo demuestra</a:t>
            </a:r>
            <a:endParaRPr lang="en-US" sz="1350" dirty="0"/>
          </a:p>
        </p:txBody>
      </p:sp>
      <p:sp>
        <p:nvSpPr>
          <p:cNvPr id="13" name="Text 11"/>
          <p:cNvSpPr/>
          <p:nvPr/>
        </p:nvSpPr>
        <p:spPr>
          <a:xfrm>
            <a:off x="6419088" y="2441448"/>
            <a:ext cx="2295144" cy="594360"/>
          </a:xfrm>
          <a:prstGeom prst="rect">
            <a:avLst/>
          </a:prstGeom>
          <a:noFill/>
          <a:ln/>
        </p:spPr>
        <p:txBody>
          <a:bodyPr wrap="square" lIns="0" tIns="0" rIns="0" bIns="0" rtlCol="0" anchor="t"/>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Nunca declara honestidad: entrega el dato.</a:t>
            </a:r>
            <a:endParaRPr lang="en-US" sz="1050" dirty="0"/>
          </a:p>
        </p:txBody>
      </p:sp>
      <p:sp>
        <p:nvSpPr>
          <p:cNvPr id="14" name="Shape 12"/>
          <p:cNvSpPr/>
          <p:nvPr/>
        </p:nvSpPr>
        <p:spPr>
          <a:xfrm>
            <a:off x="9098280" y="1600200"/>
            <a:ext cx="2697480" cy="1554480"/>
          </a:xfrm>
          <a:prstGeom prst="roundRect">
            <a:avLst>
              <a:gd name="adj" fmla="val 5294"/>
            </a:avLst>
          </a:prstGeom>
          <a:solidFill>
            <a:srgbClr val="E8F6F9"/>
          </a:solidFill>
          <a:ln/>
        </p:spPr>
      </p:sp>
      <p:sp>
        <p:nvSpPr>
          <p:cNvPr id="15" name="Text 13"/>
          <p:cNvSpPr/>
          <p:nvPr/>
        </p:nvSpPr>
        <p:spPr>
          <a:xfrm>
            <a:off x="9299448" y="1764792"/>
            <a:ext cx="2295144" cy="658368"/>
          </a:xfrm>
          <a:prstGeom prst="rect">
            <a:avLst/>
          </a:prstGeom>
          <a:noFill/>
          <a:ln/>
        </p:spPr>
        <p:txBody>
          <a:bodyPr wrap="square" lIns="0" tIns="0" rIns="0" bIns="0" rtlCol="0" anchor="t"/>
          <a:lstStyle/>
          <a:p>
            <a:pPr marL="0" indent="0">
              <a:lnSpc>
                <a:spcPct val="105000"/>
              </a:lnSpc>
              <a:buNone/>
            </a:pPr>
            <a:r>
              <a:rPr lang="en-US" sz="1350" b="1" dirty="0">
                <a:solidFill>
                  <a:srgbClr val="1B2229"/>
                </a:solidFill>
                <a:latin typeface="Calibri" pitchFamily="34" charset="0"/>
                <a:ea typeface="Calibri" pitchFamily="34" charset="-122"/>
                <a:cs typeface="Calibri" pitchFamily="34" charset="-120"/>
              </a:rPr>
              <a:t>Energía de ejecución</a:t>
            </a:r>
            <a:endParaRPr lang="en-US" sz="1350" dirty="0"/>
          </a:p>
        </p:txBody>
      </p:sp>
      <p:sp>
        <p:nvSpPr>
          <p:cNvPr id="16" name="Text 14"/>
          <p:cNvSpPr/>
          <p:nvPr/>
        </p:nvSpPr>
        <p:spPr>
          <a:xfrm>
            <a:off x="9299448" y="2441448"/>
            <a:ext cx="2295144" cy="594360"/>
          </a:xfrm>
          <a:prstGeom prst="rect">
            <a:avLst/>
          </a:prstGeom>
          <a:noFill/>
          <a:ln/>
        </p:spPr>
        <p:txBody>
          <a:bodyPr wrap="square" lIns="0" tIns="0" rIns="0" bIns="0" rtlCol="0" anchor="t"/>
          <a:lstStyle/>
          <a:p>
            <a:pPr marL="0" indent="0">
              <a:lnSpc>
                <a:spcPct val="110000"/>
              </a:lnSpc>
              <a:buNone/>
            </a:pPr>
            <a:r>
              <a:rPr lang="en-US" sz="1050" dirty="0">
                <a:solidFill>
                  <a:srgbClr val="5B6670"/>
                </a:solidFill>
                <a:latin typeface="Calibri" pitchFamily="34" charset="0"/>
                <a:ea typeface="Calibri" pitchFamily="34" charset="-122"/>
                <a:cs typeface="Calibri" pitchFamily="34" charset="-120"/>
              </a:rPr>
              <a:t>Ya lo hizo, no lo va a hacer.</a:t>
            </a:r>
            <a:endParaRPr lang="en-US" sz="1050" dirty="0"/>
          </a:p>
        </p:txBody>
      </p:sp>
      <p:sp>
        <p:nvSpPr>
          <p:cNvPr id="17" name="Shape 15"/>
          <p:cNvSpPr/>
          <p:nvPr/>
        </p:nvSpPr>
        <p:spPr>
          <a:xfrm>
            <a:off x="457200" y="3429000"/>
            <a:ext cx="11274552" cy="502920"/>
          </a:xfrm>
          <a:prstGeom prst="roundRect">
            <a:avLst>
              <a:gd name="adj" fmla="val 12727"/>
            </a:avLst>
          </a:prstGeom>
          <a:solidFill>
            <a:srgbClr val="1B2229"/>
          </a:solidFill>
          <a:ln/>
        </p:spPr>
      </p:sp>
      <p:sp>
        <p:nvSpPr>
          <p:cNvPr id="18" name="Text 16"/>
          <p:cNvSpPr/>
          <p:nvPr/>
        </p:nvSpPr>
        <p:spPr>
          <a:xfrm>
            <a:off x="457200" y="3429000"/>
            <a:ext cx="11274552" cy="502920"/>
          </a:xfrm>
          <a:prstGeom prst="rect">
            <a:avLst/>
          </a:prstGeom>
          <a:noFill/>
          <a:ln/>
        </p:spPr>
        <p:txBody>
          <a:bodyPr wrap="square" lIns="0" tIns="0" rIns="0" bIns="0" rtlCol="0" anchor="ctr"/>
          <a:lstStyle/>
          <a:p>
            <a:pPr marL="0" indent="0" algn="ctr">
              <a:buNone/>
            </a:pPr>
            <a:r>
              <a:rPr lang="en-US" sz="1400" b="1" kern="0" spc="50" dirty="0">
                <a:solidFill>
                  <a:srgbClr val="BAEB56"/>
                </a:solidFill>
                <a:latin typeface="Calibri" pitchFamily="34" charset="0"/>
                <a:ea typeface="Calibri" pitchFamily="34" charset="-122"/>
                <a:cs typeface="Calibri" pitchFamily="34" charset="-120"/>
              </a:rPr>
              <a:t>LA REGLA DE ORO:  En presente. Sin condicionales.</a:t>
            </a:r>
            <a:endParaRPr lang="en-US" sz="1400" dirty="0"/>
          </a:p>
        </p:txBody>
      </p:sp>
      <p:sp>
        <p:nvSpPr>
          <p:cNvPr id="19" name="Shape 17"/>
          <p:cNvSpPr/>
          <p:nvPr/>
        </p:nvSpPr>
        <p:spPr>
          <a:xfrm>
            <a:off x="457200" y="4160520"/>
            <a:ext cx="5504688" cy="1554480"/>
          </a:xfrm>
          <a:prstGeom prst="roundRect">
            <a:avLst>
              <a:gd name="adj" fmla="val 5294"/>
            </a:avLst>
          </a:prstGeom>
          <a:solidFill>
            <a:srgbClr val="FBE9E9"/>
          </a:solidFill>
          <a:ln/>
        </p:spPr>
      </p:sp>
      <p:sp>
        <p:nvSpPr>
          <p:cNvPr id="20" name="Text 18"/>
          <p:cNvSpPr/>
          <p:nvPr/>
        </p:nvSpPr>
        <p:spPr>
          <a:xfrm>
            <a:off x="713232" y="4315968"/>
            <a:ext cx="5029200" cy="274320"/>
          </a:xfrm>
          <a:prstGeom prst="rect">
            <a:avLst/>
          </a:prstGeom>
          <a:noFill/>
          <a:ln/>
        </p:spPr>
        <p:txBody>
          <a:bodyPr wrap="square" lIns="0" tIns="0" rIns="0" bIns="0" rtlCol="0" anchor="ctr"/>
          <a:lstStyle/>
          <a:p>
            <a:pPr marL="0" indent="0">
              <a:buNone/>
            </a:pPr>
            <a:r>
              <a:rPr lang="en-US" sz="1050" b="1" kern="0" spc="100" dirty="0">
                <a:solidFill>
                  <a:srgbClr val="9B4343"/>
                </a:solidFill>
                <a:latin typeface="Calibri" pitchFamily="34" charset="0"/>
                <a:ea typeface="Calibri" pitchFamily="34" charset="-122"/>
                <a:cs typeface="Calibri" pitchFamily="34" charset="-120"/>
              </a:rPr>
              <a:t>NO ES VEO</a:t>
            </a:r>
            <a:endParaRPr lang="en-US" sz="1050" dirty="0"/>
          </a:p>
        </p:txBody>
      </p:sp>
      <p:sp>
        <p:nvSpPr>
          <p:cNvPr id="21" name="Text 19"/>
          <p:cNvSpPr/>
          <p:nvPr/>
        </p:nvSpPr>
        <p:spPr>
          <a:xfrm>
            <a:off x="713232" y="4590288"/>
            <a:ext cx="5029200" cy="1005840"/>
          </a:xfrm>
          <a:prstGeom prst="rect">
            <a:avLst/>
          </a:prstGeom>
          <a:noFill/>
          <a:ln/>
        </p:spPr>
        <p:txBody>
          <a:bodyPr wrap="square" lIns="0" tIns="0" rIns="0" bIns="0" rtlCol="0" anchor="ctr"/>
          <a:lstStyle/>
          <a:p>
            <a:pPr marL="0" indent="0">
              <a:lnSpc>
                <a:spcPct val="115000"/>
              </a:lnSpc>
              <a:buNone/>
            </a:pPr>
            <a:r>
              <a:rPr lang="en-US" sz="1300" i="1" dirty="0">
                <a:solidFill>
                  <a:srgbClr val="6B3232"/>
                </a:solidFill>
                <a:latin typeface="Calibri" pitchFamily="34" charset="0"/>
                <a:ea typeface="Calibri" pitchFamily="34" charset="-122"/>
                <a:cs typeface="Calibri" pitchFamily="34" charset="-120"/>
              </a:rPr>
              <a:t>“Aspiramos a tener una operación auditable y transparente.”</a:t>
            </a:r>
            <a:endParaRPr lang="en-US" sz="1300" dirty="0"/>
          </a:p>
        </p:txBody>
      </p:sp>
      <p:sp>
        <p:nvSpPr>
          <p:cNvPr id="22" name="Shape 20"/>
          <p:cNvSpPr/>
          <p:nvPr/>
        </p:nvSpPr>
        <p:spPr>
          <a:xfrm>
            <a:off x="6227064" y="4160520"/>
            <a:ext cx="5504688" cy="1554480"/>
          </a:xfrm>
          <a:prstGeom prst="roundRect">
            <a:avLst>
              <a:gd name="adj" fmla="val 5294"/>
            </a:avLst>
          </a:prstGeom>
          <a:solidFill>
            <a:srgbClr val="E8F6F9"/>
          </a:solidFill>
          <a:ln/>
        </p:spPr>
      </p:sp>
      <p:sp>
        <p:nvSpPr>
          <p:cNvPr id="23" name="Text 21"/>
          <p:cNvSpPr/>
          <p:nvPr/>
        </p:nvSpPr>
        <p:spPr>
          <a:xfrm>
            <a:off x="6483096" y="4315968"/>
            <a:ext cx="5029200" cy="274320"/>
          </a:xfrm>
          <a:prstGeom prst="rect">
            <a:avLst/>
          </a:prstGeom>
          <a:noFill/>
          <a:ln/>
        </p:spPr>
        <p:txBody>
          <a:bodyPr wrap="square" lIns="0" tIns="0" rIns="0" bIns="0" rtlCol="0" anchor="ctr"/>
          <a:lstStyle/>
          <a:p>
            <a:pPr marL="0" indent="0">
              <a:buNone/>
            </a:pPr>
            <a:r>
              <a:rPr lang="en-US" sz="1050" b="1" kern="0" spc="100" dirty="0">
                <a:solidFill>
                  <a:srgbClr val="4A798C"/>
                </a:solidFill>
                <a:latin typeface="Calibri" pitchFamily="34" charset="0"/>
                <a:ea typeface="Calibri" pitchFamily="34" charset="-122"/>
                <a:cs typeface="Calibri" pitchFamily="34" charset="-120"/>
              </a:rPr>
              <a:t>SÍ ES VEO</a:t>
            </a:r>
            <a:endParaRPr lang="en-US" sz="1050" dirty="0"/>
          </a:p>
        </p:txBody>
      </p:sp>
      <p:sp>
        <p:nvSpPr>
          <p:cNvPr id="24" name="Text 22"/>
          <p:cNvSpPr/>
          <p:nvPr/>
        </p:nvSpPr>
        <p:spPr>
          <a:xfrm>
            <a:off x="6483096" y="4590288"/>
            <a:ext cx="5029200" cy="1005840"/>
          </a:xfrm>
          <a:prstGeom prst="rect">
            <a:avLst/>
          </a:prstGeom>
          <a:noFill/>
          <a:ln/>
        </p:spPr>
        <p:txBody>
          <a:bodyPr wrap="square" lIns="0" tIns="0" rIns="0" bIns="0" rtlCol="0" anchor="ctr"/>
          <a:lstStyle/>
          <a:p>
            <a:pPr marL="0" indent="0">
              <a:lnSpc>
                <a:spcPct val="115000"/>
              </a:lnSpc>
              <a:buNone/>
            </a:pPr>
            <a:r>
              <a:rPr lang="en-US" sz="1300" i="1" dirty="0">
                <a:solidFill>
                  <a:srgbClr val="1B2229"/>
                </a:solidFill>
                <a:latin typeface="Calibri" pitchFamily="34" charset="0"/>
                <a:ea typeface="Calibri" pitchFamily="34" charset="-122"/>
                <a:cs typeface="Calibri" pitchFamily="34" charset="-120"/>
              </a:rPr>
              <a:t>“Toda la operación está en el sistema. Si quieren revisarla, les damos acceso.”</a:t>
            </a:r>
            <a:endParaRPr lang="en-US" sz="1300" dirty="0"/>
          </a:p>
        </p:txBody>
      </p:sp>
      <p:sp>
        <p:nvSpPr>
          <p:cNvPr id="25" name="Text 23"/>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26" name="Text 24"/>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LAS REGLAS QUE NO SE ROMPEN</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Cinco invariantes, en cualquier canal</a:t>
            </a:r>
            <a:endParaRPr lang="en-US" sz="2700" dirty="0"/>
          </a:p>
        </p:txBody>
      </p:sp>
      <p:sp>
        <p:nvSpPr>
          <p:cNvPr id="5" name="Shape 3"/>
          <p:cNvSpPr/>
          <p:nvPr/>
        </p:nvSpPr>
        <p:spPr>
          <a:xfrm>
            <a:off x="457200" y="1645920"/>
            <a:ext cx="365760" cy="365760"/>
          </a:xfrm>
          <a:prstGeom prst="roundRect">
            <a:avLst>
              <a:gd name="adj" fmla="val 20000"/>
            </a:avLst>
          </a:prstGeom>
          <a:solidFill>
            <a:srgbClr val="BAEB56"/>
          </a:solidFill>
          <a:ln/>
        </p:spPr>
      </p:sp>
      <p:sp>
        <p:nvSpPr>
          <p:cNvPr id="6" name="Text 4"/>
          <p:cNvSpPr/>
          <p:nvPr/>
        </p:nvSpPr>
        <p:spPr>
          <a:xfrm>
            <a:off x="457200" y="1645920"/>
            <a:ext cx="365760" cy="365760"/>
          </a:xfrm>
          <a:prstGeom prst="rect">
            <a:avLst/>
          </a:prstGeom>
          <a:noFill/>
          <a:ln/>
        </p:spPr>
        <p:txBody>
          <a:bodyPr wrap="square" lIns="0" tIns="0" rIns="0" bIns="0" rtlCol="0" anchor="ctr"/>
          <a:lstStyle/>
          <a:p>
            <a:pPr marL="0" indent="0" algn="ctr">
              <a:buNone/>
            </a:pPr>
            <a:r>
              <a:rPr lang="en-US" sz="1500" b="1" dirty="0">
                <a:solidFill>
                  <a:srgbClr val="1B2229"/>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005840" y="1554480"/>
            <a:ext cx="10698480" cy="548640"/>
          </a:xfrm>
          <a:prstGeom prst="rect">
            <a:avLst/>
          </a:prstGeom>
          <a:noFill/>
          <a:ln/>
        </p:spPr>
        <p:txBody>
          <a:bodyPr wrap="square" lIns="0" tIns="0" rIns="0" bIns="0" rtlCol="0" anchor="ctr"/>
          <a:lstStyle/>
          <a:p>
            <a:pPr marL="0" indent="0">
              <a:buNone/>
            </a:pPr>
            <a:r>
              <a:rPr lang="en-US" sz="1500" dirty="0">
                <a:solidFill>
                  <a:srgbClr val="1B2229"/>
                </a:solidFill>
                <a:latin typeface="Calibri" pitchFamily="34" charset="0"/>
                <a:ea typeface="Calibri" pitchFamily="34" charset="-122"/>
                <a:cs typeface="Calibri" pitchFamily="34" charset="-120"/>
              </a:rPr>
              <a:t>Los cuatro atributos de voz, siempre.</a:t>
            </a:r>
            <a:endParaRPr lang="en-US" sz="1500" dirty="0"/>
          </a:p>
        </p:txBody>
      </p:sp>
      <p:sp>
        <p:nvSpPr>
          <p:cNvPr id="8" name="Shape 6"/>
          <p:cNvSpPr/>
          <p:nvPr/>
        </p:nvSpPr>
        <p:spPr>
          <a:xfrm>
            <a:off x="457200" y="2304288"/>
            <a:ext cx="365760" cy="365760"/>
          </a:xfrm>
          <a:prstGeom prst="roundRect">
            <a:avLst>
              <a:gd name="adj" fmla="val 20000"/>
            </a:avLst>
          </a:prstGeom>
          <a:solidFill>
            <a:srgbClr val="BAEB56"/>
          </a:solidFill>
          <a:ln/>
        </p:spPr>
      </p:sp>
      <p:sp>
        <p:nvSpPr>
          <p:cNvPr id="9" name="Text 7"/>
          <p:cNvSpPr/>
          <p:nvPr/>
        </p:nvSpPr>
        <p:spPr>
          <a:xfrm>
            <a:off x="457200" y="2304288"/>
            <a:ext cx="365760" cy="365760"/>
          </a:xfrm>
          <a:prstGeom prst="rect">
            <a:avLst/>
          </a:prstGeom>
          <a:noFill/>
          <a:ln/>
        </p:spPr>
        <p:txBody>
          <a:bodyPr wrap="square" lIns="0" tIns="0" rIns="0" bIns="0" rtlCol="0" anchor="ctr"/>
          <a:lstStyle/>
          <a:p>
            <a:pPr marL="0" indent="0" algn="ctr">
              <a:buNone/>
            </a:pPr>
            <a:r>
              <a:rPr lang="en-US" sz="1500" b="1" dirty="0">
                <a:solidFill>
                  <a:srgbClr val="1B2229"/>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005840" y="2212848"/>
            <a:ext cx="10698480" cy="548640"/>
          </a:xfrm>
          <a:prstGeom prst="rect">
            <a:avLst/>
          </a:prstGeom>
          <a:noFill/>
          <a:ln/>
        </p:spPr>
        <p:txBody>
          <a:bodyPr wrap="square" lIns="0" tIns="0" rIns="0" bIns="0" rtlCol="0" anchor="ctr"/>
          <a:lstStyle/>
          <a:p>
            <a:pPr marL="0" indent="0">
              <a:buNone/>
            </a:pPr>
            <a:r>
              <a:rPr lang="en-US" sz="1500" dirty="0">
                <a:solidFill>
                  <a:srgbClr val="1B2229"/>
                </a:solidFill>
                <a:latin typeface="Calibri" pitchFamily="34" charset="0"/>
                <a:ea typeface="Calibri" pitchFamily="34" charset="-122"/>
                <a:cs typeface="Calibri" pitchFamily="34" charset="-120"/>
              </a:rPr>
              <a:t>Presente. Sin condicionales. Lo que no existe hoy, no se dice.</a:t>
            </a:r>
            <a:endParaRPr lang="en-US" sz="1500" dirty="0"/>
          </a:p>
        </p:txBody>
      </p:sp>
      <p:sp>
        <p:nvSpPr>
          <p:cNvPr id="11" name="Shape 9"/>
          <p:cNvSpPr/>
          <p:nvPr/>
        </p:nvSpPr>
        <p:spPr>
          <a:xfrm>
            <a:off x="457200" y="2962656"/>
            <a:ext cx="365760" cy="365760"/>
          </a:xfrm>
          <a:prstGeom prst="roundRect">
            <a:avLst>
              <a:gd name="adj" fmla="val 20000"/>
            </a:avLst>
          </a:prstGeom>
          <a:solidFill>
            <a:srgbClr val="BAEB56"/>
          </a:solidFill>
          <a:ln/>
        </p:spPr>
      </p:sp>
      <p:sp>
        <p:nvSpPr>
          <p:cNvPr id="12" name="Text 10"/>
          <p:cNvSpPr/>
          <p:nvPr/>
        </p:nvSpPr>
        <p:spPr>
          <a:xfrm>
            <a:off x="457200" y="2962656"/>
            <a:ext cx="365760" cy="365760"/>
          </a:xfrm>
          <a:prstGeom prst="rect">
            <a:avLst/>
          </a:prstGeom>
          <a:noFill/>
          <a:ln/>
        </p:spPr>
        <p:txBody>
          <a:bodyPr wrap="square" lIns="0" tIns="0" rIns="0" bIns="0" rtlCol="0" anchor="ctr"/>
          <a:lstStyle/>
          <a:p>
            <a:pPr marL="0" indent="0" algn="ctr">
              <a:buNone/>
            </a:pPr>
            <a:r>
              <a:rPr lang="en-US" sz="1500" b="1" dirty="0">
                <a:solidFill>
                  <a:srgbClr val="1B2229"/>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1005840" y="2871216"/>
            <a:ext cx="10698480" cy="548640"/>
          </a:xfrm>
          <a:prstGeom prst="rect">
            <a:avLst/>
          </a:prstGeom>
          <a:noFill/>
          <a:ln/>
        </p:spPr>
        <p:txBody>
          <a:bodyPr wrap="square" lIns="0" tIns="0" rIns="0" bIns="0" rtlCol="0" anchor="ctr"/>
          <a:lstStyle/>
          <a:p>
            <a:pPr marL="0" indent="0">
              <a:buNone/>
            </a:pPr>
            <a:r>
              <a:rPr lang="en-US" sz="1500" dirty="0">
                <a:solidFill>
                  <a:srgbClr val="1B2229"/>
                </a:solidFill>
                <a:latin typeface="Calibri" pitchFamily="34" charset="0"/>
                <a:ea typeface="Calibri" pitchFamily="34" charset="-122"/>
                <a:cs typeface="Calibri" pitchFamily="34" charset="-120"/>
              </a:rPr>
              <a:t>Nunca se nombra ni se alude a un competidor — ni en broma.</a:t>
            </a:r>
            <a:endParaRPr lang="en-US" sz="1500" dirty="0"/>
          </a:p>
        </p:txBody>
      </p:sp>
      <p:sp>
        <p:nvSpPr>
          <p:cNvPr id="14" name="Shape 12"/>
          <p:cNvSpPr/>
          <p:nvPr/>
        </p:nvSpPr>
        <p:spPr>
          <a:xfrm>
            <a:off x="457200" y="3621024"/>
            <a:ext cx="365760" cy="365760"/>
          </a:xfrm>
          <a:prstGeom prst="roundRect">
            <a:avLst>
              <a:gd name="adj" fmla="val 20000"/>
            </a:avLst>
          </a:prstGeom>
          <a:solidFill>
            <a:srgbClr val="BAEB56"/>
          </a:solidFill>
          <a:ln/>
        </p:spPr>
      </p:sp>
      <p:sp>
        <p:nvSpPr>
          <p:cNvPr id="15" name="Text 13"/>
          <p:cNvSpPr/>
          <p:nvPr/>
        </p:nvSpPr>
        <p:spPr>
          <a:xfrm>
            <a:off x="457200" y="3621024"/>
            <a:ext cx="365760" cy="365760"/>
          </a:xfrm>
          <a:prstGeom prst="rect">
            <a:avLst/>
          </a:prstGeom>
          <a:noFill/>
          <a:ln/>
        </p:spPr>
        <p:txBody>
          <a:bodyPr wrap="square" lIns="0" tIns="0" rIns="0" bIns="0" rtlCol="0" anchor="ctr"/>
          <a:lstStyle/>
          <a:p>
            <a:pPr marL="0" indent="0" algn="ctr">
              <a:buNone/>
            </a:pPr>
            <a:r>
              <a:rPr lang="en-US" sz="1500" b="1" dirty="0">
                <a:solidFill>
                  <a:srgbClr val="1B2229"/>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1005840" y="3529584"/>
            <a:ext cx="10698480" cy="548640"/>
          </a:xfrm>
          <a:prstGeom prst="rect">
            <a:avLst/>
          </a:prstGeom>
          <a:noFill/>
          <a:ln/>
        </p:spPr>
        <p:txBody>
          <a:bodyPr wrap="square" lIns="0" tIns="0" rIns="0" bIns="0" rtlCol="0" anchor="ctr"/>
          <a:lstStyle/>
          <a:p>
            <a:pPr marL="0" indent="0">
              <a:buNone/>
            </a:pPr>
            <a:r>
              <a:rPr lang="en-US" sz="1500" dirty="0">
                <a:solidFill>
                  <a:srgbClr val="1B2229"/>
                </a:solidFill>
                <a:latin typeface="Calibri" pitchFamily="34" charset="0"/>
                <a:ea typeface="Calibri" pitchFamily="34" charset="-122"/>
                <a:cs typeface="Calibri" pitchFamily="34" charset="-120"/>
              </a:rPr>
              <a:t>Nunca se declara la virtud: se demuestra con un hecho verificable.</a:t>
            </a:r>
            <a:endParaRPr lang="en-US" sz="1500" dirty="0"/>
          </a:p>
        </p:txBody>
      </p:sp>
      <p:sp>
        <p:nvSpPr>
          <p:cNvPr id="17" name="Shape 15"/>
          <p:cNvSpPr/>
          <p:nvPr/>
        </p:nvSpPr>
        <p:spPr>
          <a:xfrm>
            <a:off x="457200" y="4279392"/>
            <a:ext cx="365760" cy="365760"/>
          </a:xfrm>
          <a:prstGeom prst="roundRect">
            <a:avLst>
              <a:gd name="adj" fmla="val 20000"/>
            </a:avLst>
          </a:prstGeom>
          <a:solidFill>
            <a:srgbClr val="BAEB56"/>
          </a:solidFill>
          <a:ln/>
        </p:spPr>
      </p:sp>
      <p:sp>
        <p:nvSpPr>
          <p:cNvPr id="18" name="Text 16"/>
          <p:cNvSpPr/>
          <p:nvPr/>
        </p:nvSpPr>
        <p:spPr>
          <a:xfrm>
            <a:off x="457200" y="4279392"/>
            <a:ext cx="365760" cy="365760"/>
          </a:xfrm>
          <a:prstGeom prst="rect">
            <a:avLst/>
          </a:prstGeom>
          <a:noFill/>
          <a:ln/>
        </p:spPr>
        <p:txBody>
          <a:bodyPr wrap="square" lIns="0" tIns="0" rIns="0" bIns="0" rtlCol="0" anchor="ctr"/>
          <a:lstStyle/>
          <a:p>
            <a:pPr marL="0" indent="0" algn="ctr">
              <a:buNone/>
            </a:pPr>
            <a:r>
              <a:rPr lang="en-US" sz="1500" b="1" dirty="0">
                <a:solidFill>
                  <a:srgbClr val="1B2229"/>
                </a:solidFill>
                <a:latin typeface="Calibri" pitchFamily="34" charset="0"/>
                <a:ea typeface="Calibri" pitchFamily="34" charset="-122"/>
                <a:cs typeface="Calibri" pitchFamily="34" charset="-120"/>
              </a:rPr>
              <a:t>5</a:t>
            </a:r>
            <a:endParaRPr lang="en-US" sz="1500" dirty="0"/>
          </a:p>
        </p:txBody>
      </p:sp>
      <p:sp>
        <p:nvSpPr>
          <p:cNvPr id="19" name="Text 17"/>
          <p:cNvSpPr/>
          <p:nvPr/>
        </p:nvSpPr>
        <p:spPr>
          <a:xfrm>
            <a:off x="1005840" y="4187952"/>
            <a:ext cx="10698480" cy="548640"/>
          </a:xfrm>
          <a:prstGeom prst="rect">
            <a:avLst/>
          </a:prstGeom>
          <a:noFill/>
          <a:ln/>
        </p:spPr>
        <p:txBody>
          <a:bodyPr wrap="square" lIns="0" tIns="0" rIns="0" bIns="0" rtlCol="0" anchor="ctr"/>
          <a:lstStyle/>
          <a:p>
            <a:pPr marL="0" indent="0">
              <a:buNone/>
            </a:pPr>
            <a:r>
              <a:rPr lang="en-US" sz="1500" dirty="0">
                <a:solidFill>
                  <a:srgbClr val="1B2229"/>
                </a:solidFill>
                <a:latin typeface="Calibri" pitchFamily="34" charset="0"/>
                <a:ea typeface="Calibri" pitchFamily="34" charset="-122"/>
                <a:cs typeface="Calibri" pitchFamily="34" charset="-120"/>
              </a:rPr>
              <a:t>No se promete lo que Operaciones no confirmó por escrito.</a:t>
            </a:r>
            <a:endParaRPr lang="en-US" sz="1500" dirty="0"/>
          </a:p>
        </p:txBody>
      </p:sp>
      <p:sp>
        <p:nvSpPr>
          <p:cNvPr id="20" name="Shape 18"/>
          <p:cNvSpPr/>
          <p:nvPr/>
        </p:nvSpPr>
        <p:spPr>
          <a:xfrm>
            <a:off x="457200" y="5257800"/>
            <a:ext cx="11274552" cy="960120"/>
          </a:xfrm>
          <a:prstGeom prst="roundRect">
            <a:avLst>
              <a:gd name="adj" fmla="val 7619"/>
            </a:avLst>
          </a:prstGeom>
          <a:solidFill>
            <a:srgbClr val="1B2229"/>
          </a:solidFill>
          <a:ln/>
        </p:spPr>
      </p:sp>
      <p:sp>
        <p:nvSpPr>
          <p:cNvPr id="21" name="Text 19"/>
          <p:cNvSpPr/>
          <p:nvPr/>
        </p:nvSpPr>
        <p:spPr>
          <a:xfrm>
            <a:off x="731520" y="5257800"/>
            <a:ext cx="10725912" cy="960120"/>
          </a:xfrm>
          <a:prstGeom prst="rect">
            <a:avLst/>
          </a:prstGeom>
          <a:noFill/>
          <a:ln/>
        </p:spPr>
        <p:txBody>
          <a:bodyPr wrap="square" lIns="0" tIns="0" rIns="0" bIns="0" rtlCol="0" anchor="ctr"/>
          <a:lstStyle/>
          <a:p>
            <a:pPr marL="0" indent="0">
              <a:lnSpc>
                <a:spcPct val="120000"/>
              </a:lnSpc>
              <a:buNone/>
            </a:pPr>
            <a:r>
              <a:rPr lang="en-US" sz="1300" i="1" dirty="0">
                <a:solidFill>
                  <a:srgbClr val="E8F6F9"/>
                </a:solidFill>
                <a:latin typeface="Calibri" pitchFamily="34" charset="0"/>
                <a:ea typeface="Calibri" pitchFamily="34" charset="-122"/>
                <a:cs typeface="Calibri" pitchFamily="34" charset="-120"/>
              </a:rPr>
              <a:t>El humor vive en la calle, nunca en la reunión con el cliente. Y tiene solo dos objetos permitidos: la propia marca y el entorno neutro — nunca el cliente, nunca un competidor.</a:t>
            </a:r>
            <a:endParaRPr lang="en-US" sz="1300" dirty="0"/>
          </a:p>
        </p:txBody>
      </p:sp>
      <p:sp>
        <p:nvSpPr>
          <p:cNvPr id="22" name="Text 20"/>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23" name="Text 21"/>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EQUIPO COMERCIAL</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Del vendedor transaccional al consultor de impacto</a:t>
            </a:r>
            <a:endParaRPr lang="en-US" sz="2700" dirty="0"/>
          </a:p>
        </p:txBody>
      </p:sp>
      <p:sp>
        <p:nvSpPr>
          <p:cNvPr id="5" name="Shape 3"/>
          <p:cNvSpPr/>
          <p:nvPr/>
        </p:nvSpPr>
        <p:spPr>
          <a:xfrm>
            <a:off x="457200" y="1645920"/>
            <a:ext cx="5394960" cy="502920"/>
          </a:xfrm>
          <a:prstGeom prst="roundRect">
            <a:avLst>
              <a:gd name="adj" fmla="val 12727"/>
            </a:avLst>
          </a:prstGeom>
          <a:solidFill>
            <a:srgbClr val="F1F1F1"/>
          </a:solidFill>
          <a:ln/>
        </p:spPr>
      </p:sp>
      <p:sp>
        <p:nvSpPr>
          <p:cNvPr id="6" name="Text 4"/>
          <p:cNvSpPr/>
          <p:nvPr/>
        </p:nvSpPr>
        <p:spPr>
          <a:xfrm>
            <a:off x="457200" y="1645920"/>
            <a:ext cx="5394960" cy="502920"/>
          </a:xfrm>
          <a:prstGeom prst="rect">
            <a:avLst/>
          </a:prstGeom>
          <a:noFill/>
          <a:ln/>
        </p:spPr>
        <p:txBody>
          <a:bodyPr wrap="square" lIns="0" tIns="0" rIns="0" bIns="0" rtlCol="0" anchor="ctr"/>
          <a:lstStyle/>
          <a:p>
            <a:pPr marL="0" indent="0" algn="ctr">
              <a:buNone/>
            </a:pPr>
            <a:r>
              <a:rPr lang="en-US" sz="1300" b="1" kern="0" spc="100" dirty="0">
                <a:solidFill>
                  <a:srgbClr val="5B6670"/>
                </a:solidFill>
                <a:latin typeface="Calibri" pitchFamily="34" charset="0"/>
                <a:ea typeface="Calibri" pitchFamily="34" charset="-122"/>
                <a:cs typeface="Calibri" pitchFamily="34" charset="-120"/>
              </a:rPr>
              <a:t>VENDEDOR TRANSACCIONAL</a:t>
            </a:r>
            <a:endParaRPr lang="en-US" sz="1300" dirty="0"/>
          </a:p>
        </p:txBody>
      </p:sp>
      <p:sp>
        <p:nvSpPr>
          <p:cNvPr id="7" name="Shape 5"/>
          <p:cNvSpPr/>
          <p:nvPr/>
        </p:nvSpPr>
        <p:spPr>
          <a:xfrm>
            <a:off x="6336792" y="1645920"/>
            <a:ext cx="5394960" cy="502920"/>
          </a:xfrm>
          <a:prstGeom prst="roundRect">
            <a:avLst>
              <a:gd name="adj" fmla="val 12727"/>
            </a:avLst>
          </a:prstGeom>
          <a:solidFill>
            <a:srgbClr val="1B2229"/>
          </a:solidFill>
          <a:ln/>
        </p:spPr>
      </p:sp>
      <p:sp>
        <p:nvSpPr>
          <p:cNvPr id="8" name="Text 6"/>
          <p:cNvSpPr/>
          <p:nvPr/>
        </p:nvSpPr>
        <p:spPr>
          <a:xfrm>
            <a:off x="6336792" y="1645920"/>
            <a:ext cx="5394960" cy="502920"/>
          </a:xfrm>
          <a:prstGeom prst="rect">
            <a:avLst/>
          </a:prstGeom>
          <a:noFill/>
          <a:ln/>
        </p:spPr>
        <p:txBody>
          <a:bodyPr wrap="square" lIns="0" tIns="0" rIns="0" bIns="0" rtlCol="0" anchor="ctr"/>
          <a:lstStyle/>
          <a:p>
            <a:pPr marL="0" indent="0" algn="ctr">
              <a:buNone/>
            </a:pPr>
            <a:r>
              <a:rPr lang="en-US" sz="1300" b="1" kern="0" spc="100" dirty="0">
                <a:solidFill>
                  <a:srgbClr val="BAEB56"/>
                </a:solidFill>
                <a:latin typeface="Calibri" pitchFamily="34" charset="0"/>
                <a:ea typeface="Calibri" pitchFamily="34" charset="-122"/>
                <a:cs typeface="Calibri" pitchFamily="34" charset="-120"/>
              </a:rPr>
              <a:t>CONSULTOR DE IMPACTO VEO</a:t>
            </a:r>
            <a:endParaRPr lang="en-US" sz="1300" dirty="0"/>
          </a:p>
        </p:txBody>
      </p:sp>
      <p:sp>
        <p:nvSpPr>
          <p:cNvPr id="9" name="Shape 7"/>
          <p:cNvSpPr/>
          <p:nvPr/>
        </p:nvSpPr>
        <p:spPr>
          <a:xfrm>
            <a:off x="457200" y="2286000"/>
            <a:ext cx="11274552" cy="804672"/>
          </a:xfrm>
          <a:prstGeom prst="roundRect">
            <a:avLst>
              <a:gd name="adj" fmla="val 6818"/>
            </a:avLst>
          </a:prstGeom>
          <a:solidFill>
            <a:srgbClr val="FAFAFA"/>
          </a:solidFill>
          <a:ln/>
        </p:spPr>
      </p:sp>
      <p:sp>
        <p:nvSpPr>
          <p:cNvPr id="10" name="Text 8"/>
          <p:cNvSpPr/>
          <p:nvPr/>
        </p:nvSpPr>
        <p:spPr>
          <a:xfrm>
            <a:off x="640080" y="2331720"/>
            <a:ext cx="5029200" cy="758952"/>
          </a:xfrm>
          <a:prstGeom prst="rect">
            <a:avLst/>
          </a:prstGeom>
          <a:noFill/>
          <a:ln/>
        </p:spPr>
        <p:txBody>
          <a:bodyPr wrap="square" lIns="0" tIns="0" rIns="0" bIns="0" rtlCol="0" anchor="ctr"/>
          <a:lstStyle/>
          <a:p>
            <a:pPr marL="0" indent="0">
              <a:lnSpc>
                <a:spcPct val="110000"/>
              </a:lnSpc>
              <a:buNone/>
            </a:pPr>
            <a:r>
              <a:rPr lang="en-US" sz="1250" dirty="0">
                <a:solidFill>
                  <a:srgbClr val="5B6670"/>
                </a:solidFill>
                <a:latin typeface="Calibri" pitchFamily="34" charset="0"/>
                <a:ea typeface="Calibri" pitchFamily="34" charset="-122"/>
                <a:cs typeface="Calibri" pitchFamily="34" charset="-120"/>
              </a:rPr>
              <a:t>Ofrece disponibilidad de inventario.</a:t>
            </a:r>
            <a:endParaRPr lang="en-US" sz="1250" dirty="0"/>
          </a:p>
        </p:txBody>
      </p:sp>
      <p:sp>
        <p:nvSpPr>
          <p:cNvPr id="11" name="Text 9"/>
          <p:cNvSpPr/>
          <p:nvPr/>
        </p:nvSpPr>
        <p:spPr>
          <a:xfrm>
            <a:off x="6336792" y="2331720"/>
            <a:ext cx="5212080" cy="758952"/>
          </a:xfrm>
          <a:prstGeom prst="rect">
            <a:avLst/>
          </a:prstGeom>
          <a:noFill/>
          <a:ln/>
        </p:spPr>
        <p:txBody>
          <a:bodyPr wrap="square" lIns="0" tIns="0" rIns="0" bIns="0" rtlCol="0" anchor="ctr"/>
          <a:lstStyle/>
          <a:p>
            <a:pPr marL="0" indent="0">
              <a:lnSpc>
                <a:spcPct val="110000"/>
              </a:lnSpc>
              <a:buNone/>
            </a:pPr>
            <a:r>
              <a:rPr lang="en-US" sz="1250" b="1" dirty="0">
                <a:solidFill>
                  <a:srgbClr val="1B2229"/>
                </a:solidFill>
                <a:latin typeface="Calibri" pitchFamily="34" charset="0"/>
                <a:ea typeface="Calibri" pitchFamily="34" charset="-122"/>
                <a:cs typeface="Calibri" pitchFamily="34" charset="-120"/>
              </a:rPr>
              <a:t>Llega con el análisis del objetivo del cliente.</a:t>
            </a:r>
            <a:endParaRPr lang="en-US" sz="1250" dirty="0"/>
          </a:p>
        </p:txBody>
      </p:sp>
      <p:sp>
        <p:nvSpPr>
          <p:cNvPr id="12" name="Text 10"/>
          <p:cNvSpPr/>
          <p:nvPr/>
        </p:nvSpPr>
        <p:spPr>
          <a:xfrm>
            <a:off x="640080" y="3227832"/>
            <a:ext cx="5029200" cy="758952"/>
          </a:xfrm>
          <a:prstGeom prst="rect">
            <a:avLst/>
          </a:prstGeom>
          <a:noFill/>
          <a:ln/>
        </p:spPr>
        <p:txBody>
          <a:bodyPr wrap="square" lIns="0" tIns="0" rIns="0" bIns="0" rtlCol="0" anchor="ctr"/>
          <a:lstStyle/>
          <a:p>
            <a:pPr marL="0" indent="0">
              <a:lnSpc>
                <a:spcPct val="110000"/>
              </a:lnSpc>
              <a:buNone/>
            </a:pPr>
            <a:r>
              <a:rPr lang="en-US" sz="1250" dirty="0">
                <a:solidFill>
                  <a:srgbClr val="5B6670"/>
                </a:solidFill>
                <a:latin typeface="Calibri" pitchFamily="34" charset="0"/>
                <a:ea typeface="Calibri" pitchFamily="34" charset="-122"/>
                <a:cs typeface="Calibri" pitchFamily="34" charset="-120"/>
              </a:rPr>
              <a:t>Recomienda por intuición de tráfico.</a:t>
            </a:r>
            <a:endParaRPr lang="en-US" sz="1250" dirty="0"/>
          </a:p>
        </p:txBody>
      </p:sp>
      <p:sp>
        <p:nvSpPr>
          <p:cNvPr id="13" name="Text 11"/>
          <p:cNvSpPr/>
          <p:nvPr/>
        </p:nvSpPr>
        <p:spPr>
          <a:xfrm>
            <a:off x="6336792" y="3227832"/>
            <a:ext cx="5212080" cy="758952"/>
          </a:xfrm>
          <a:prstGeom prst="rect">
            <a:avLst/>
          </a:prstGeom>
          <a:noFill/>
          <a:ln/>
        </p:spPr>
        <p:txBody>
          <a:bodyPr wrap="square" lIns="0" tIns="0" rIns="0" bIns="0" rtlCol="0" anchor="ctr"/>
          <a:lstStyle/>
          <a:p>
            <a:pPr marL="0" indent="0">
              <a:lnSpc>
                <a:spcPct val="110000"/>
              </a:lnSpc>
              <a:buNone/>
            </a:pPr>
            <a:r>
              <a:rPr lang="en-US" sz="1250" b="1" dirty="0">
                <a:solidFill>
                  <a:srgbClr val="1B2229"/>
                </a:solidFill>
                <a:latin typeface="Calibri" pitchFamily="34" charset="0"/>
                <a:ea typeface="Calibri" pitchFamily="34" charset="-122"/>
                <a:cs typeface="Calibri" pitchFamily="34" charset="-120"/>
              </a:rPr>
              <a:t>Recomienda con historial de rendimiento documentado.</a:t>
            </a:r>
            <a:endParaRPr lang="en-US" sz="1250" dirty="0"/>
          </a:p>
        </p:txBody>
      </p:sp>
      <p:sp>
        <p:nvSpPr>
          <p:cNvPr id="14" name="Shape 12"/>
          <p:cNvSpPr/>
          <p:nvPr/>
        </p:nvSpPr>
        <p:spPr>
          <a:xfrm>
            <a:off x="457200" y="4078224"/>
            <a:ext cx="11274552" cy="804672"/>
          </a:xfrm>
          <a:prstGeom prst="roundRect">
            <a:avLst>
              <a:gd name="adj" fmla="val 6818"/>
            </a:avLst>
          </a:prstGeom>
          <a:solidFill>
            <a:srgbClr val="FAFAFA"/>
          </a:solidFill>
          <a:ln/>
        </p:spPr>
      </p:sp>
      <p:sp>
        <p:nvSpPr>
          <p:cNvPr id="15" name="Text 13"/>
          <p:cNvSpPr/>
          <p:nvPr/>
        </p:nvSpPr>
        <p:spPr>
          <a:xfrm>
            <a:off x="640080" y="4123944"/>
            <a:ext cx="5029200" cy="758952"/>
          </a:xfrm>
          <a:prstGeom prst="rect">
            <a:avLst/>
          </a:prstGeom>
          <a:noFill/>
          <a:ln/>
        </p:spPr>
        <p:txBody>
          <a:bodyPr wrap="square" lIns="0" tIns="0" rIns="0" bIns="0" rtlCol="0" anchor="ctr"/>
          <a:lstStyle/>
          <a:p>
            <a:pPr marL="0" indent="0">
              <a:lnSpc>
                <a:spcPct val="110000"/>
              </a:lnSpc>
              <a:buNone/>
            </a:pPr>
            <a:r>
              <a:rPr lang="en-US" sz="1250" dirty="0">
                <a:solidFill>
                  <a:srgbClr val="5B6670"/>
                </a:solidFill>
                <a:latin typeface="Calibri" pitchFamily="34" charset="0"/>
                <a:ea typeface="Calibri" pitchFamily="34" charset="-122"/>
                <a:cs typeface="Calibri" pitchFamily="34" charset="-120"/>
              </a:rPr>
              <a:t>Entrega propuesta cuando el cliente la pide.</a:t>
            </a:r>
            <a:endParaRPr lang="en-US" sz="1250" dirty="0"/>
          </a:p>
        </p:txBody>
      </p:sp>
      <p:sp>
        <p:nvSpPr>
          <p:cNvPr id="16" name="Text 14"/>
          <p:cNvSpPr/>
          <p:nvPr/>
        </p:nvSpPr>
        <p:spPr>
          <a:xfrm>
            <a:off x="6336792" y="4123944"/>
            <a:ext cx="5212080" cy="758952"/>
          </a:xfrm>
          <a:prstGeom prst="rect">
            <a:avLst/>
          </a:prstGeom>
          <a:noFill/>
          <a:ln/>
        </p:spPr>
        <p:txBody>
          <a:bodyPr wrap="square" lIns="0" tIns="0" rIns="0" bIns="0" rtlCol="0" anchor="ctr"/>
          <a:lstStyle/>
          <a:p>
            <a:pPr marL="0" indent="0">
              <a:lnSpc>
                <a:spcPct val="110000"/>
              </a:lnSpc>
              <a:buNone/>
            </a:pPr>
            <a:r>
              <a:rPr lang="en-US" sz="1250" b="1" dirty="0">
                <a:solidFill>
                  <a:srgbClr val="1B2229"/>
                </a:solidFill>
                <a:latin typeface="Calibri" pitchFamily="34" charset="0"/>
                <a:ea typeface="Calibri" pitchFamily="34" charset="-122"/>
                <a:cs typeface="Calibri" pitchFamily="34" charset="-120"/>
              </a:rPr>
              <a:t>Propone antes de que el cliente pregunte.</a:t>
            </a:r>
            <a:endParaRPr lang="en-US" sz="1250" dirty="0"/>
          </a:p>
        </p:txBody>
      </p:sp>
      <p:sp>
        <p:nvSpPr>
          <p:cNvPr id="17" name="Text 15"/>
          <p:cNvSpPr/>
          <p:nvPr/>
        </p:nvSpPr>
        <p:spPr>
          <a:xfrm>
            <a:off x="640080" y="5020056"/>
            <a:ext cx="5029200" cy="758952"/>
          </a:xfrm>
          <a:prstGeom prst="rect">
            <a:avLst/>
          </a:prstGeom>
          <a:noFill/>
          <a:ln/>
        </p:spPr>
        <p:txBody>
          <a:bodyPr wrap="square" lIns="0" tIns="0" rIns="0" bIns="0" rtlCol="0" anchor="ctr"/>
          <a:lstStyle/>
          <a:p>
            <a:pPr marL="0" indent="0">
              <a:lnSpc>
                <a:spcPct val="110000"/>
              </a:lnSpc>
              <a:buNone/>
            </a:pPr>
            <a:r>
              <a:rPr lang="en-US" sz="1250" dirty="0">
                <a:solidFill>
                  <a:srgbClr val="5B6670"/>
                </a:solidFill>
                <a:latin typeface="Calibri" pitchFamily="34" charset="0"/>
                <a:ea typeface="Calibri" pitchFamily="34" charset="-122"/>
                <a:cs typeface="Calibri" pitchFamily="34" charset="-120"/>
              </a:rPr>
              <a:t>Reporta al cierre si el cliente lo solicita.</a:t>
            </a:r>
            <a:endParaRPr lang="en-US" sz="1250" dirty="0"/>
          </a:p>
        </p:txBody>
      </p:sp>
      <p:sp>
        <p:nvSpPr>
          <p:cNvPr id="18" name="Text 16"/>
          <p:cNvSpPr/>
          <p:nvPr/>
        </p:nvSpPr>
        <p:spPr>
          <a:xfrm>
            <a:off x="6336792" y="5020056"/>
            <a:ext cx="5212080" cy="758952"/>
          </a:xfrm>
          <a:prstGeom prst="rect">
            <a:avLst/>
          </a:prstGeom>
          <a:noFill/>
          <a:ln/>
        </p:spPr>
        <p:txBody>
          <a:bodyPr wrap="square" lIns="0" tIns="0" rIns="0" bIns="0" rtlCol="0" anchor="ctr"/>
          <a:lstStyle/>
          <a:p>
            <a:pPr marL="0" indent="0">
              <a:lnSpc>
                <a:spcPct val="110000"/>
              </a:lnSpc>
              <a:buNone/>
            </a:pPr>
            <a:r>
              <a:rPr lang="en-US" sz="1250" b="1" dirty="0">
                <a:solidFill>
                  <a:srgbClr val="1B2229"/>
                </a:solidFill>
                <a:latin typeface="Calibri" pitchFamily="34" charset="0"/>
                <a:ea typeface="Calibri" pitchFamily="34" charset="-122"/>
                <a:cs typeface="Calibri" pitchFamily="34" charset="-120"/>
              </a:rPr>
              <a:t>Entrega el reporte antes de que lo pidan.</a:t>
            </a:r>
            <a:endParaRPr lang="en-US" sz="1250" dirty="0"/>
          </a:p>
        </p:txBody>
      </p:sp>
      <p:sp>
        <p:nvSpPr>
          <p:cNvPr id="19" name="Text 17"/>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20" name="Text 18"/>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20624"/>
            <a:ext cx="201168" cy="201168"/>
          </a:xfrm>
          <a:prstGeom prst="roundRect">
            <a:avLst>
              <a:gd name="adj" fmla="val 20455"/>
            </a:avLst>
          </a:prstGeom>
          <a:solidFill>
            <a:srgbClr val="BAEB56"/>
          </a:solidFill>
          <a:ln/>
        </p:spPr>
      </p:sp>
      <p:sp>
        <p:nvSpPr>
          <p:cNvPr id="3" name="Text 1"/>
          <p:cNvSpPr/>
          <p:nvPr/>
        </p:nvSpPr>
        <p:spPr>
          <a:xfrm>
            <a:off x="777240" y="365760"/>
            <a:ext cx="9601200" cy="292608"/>
          </a:xfrm>
          <a:prstGeom prst="rect">
            <a:avLst/>
          </a:prstGeom>
          <a:noFill/>
          <a:ln/>
        </p:spPr>
        <p:txBody>
          <a:bodyPr wrap="square" lIns="0" tIns="0" rIns="0" bIns="0" rtlCol="0" anchor="ctr"/>
          <a:lstStyle/>
          <a:p>
            <a:pPr marL="0" indent="0">
              <a:buNone/>
            </a:pPr>
            <a:r>
              <a:rPr lang="en-US" sz="1200" b="1" kern="0" spc="200" dirty="0">
                <a:solidFill>
                  <a:srgbClr val="4A798C"/>
                </a:solidFill>
                <a:latin typeface="Calibri" pitchFamily="34" charset="0"/>
                <a:ea typeface="Calibri" pitchFamily="34" charset="-122"/>
                <a:cs typeface="Calibri" pitchFamily="34" charset="-120"/>
              </a:rPr>
              <a:t>IDENTIDAD VISUAL</a:t>
            </a:r>
            <a:endParaRPr lang="en-US" sz="1200" dirty="0"/>
          </a:p>
        </p:txBody>
      </p:sp>
      <p:sp>
        <p:nvSpPr>
          <p:cNvPr id="4" name="Text 2"/>
          <p:cNvSpPr/>
          <p:nvPr/>
        </p:nvSpPr>
        <p:spPr>
          <a:xfrm>
            <a:off x="457200" y="676656"/>
            <a:ext cx="11274552" cy="566928"/>
          </a:xfrm>
          <a:prstGeom prst="rect">
            <a:avLst/>
          </a:prstGeom>
          <a:noFill/>
          <a:ln/>
        </p:spPr>
        <p:txBody>
          <a:bodyPr wrap="square" lIns="0" tIns="0" rIns="0" bIns="0" rtlCol="0" anchor="ctr"/>
          <a:lstStyle/>
          <a:p>
            <a:pPr marL="0" indent="0">
              <a:buNone/>
            </a:pPr>
            <a:r>
              <a:rPr lang="en-US" sz="2700" b="1" dirty="0">
                <a:solidFill>
                  <a:srgbClr val="1B2229"/>
                </a:solidFill>
                <a:latin typeface="Calibri" pitchFamily="34" charset="0"/>
                <a:ea typeface="Calibri" pitchFamily="34" charset="-122"/>
                <a:cs typeface="Calibri" pitchFamily="34" charset="-120"/>
              </a:rPr>
              <a:t>Lo esencial del sistema visual, en un vistazo</a:t>
            </a:r>
            <a:endParaRPr lang="en-US" sz="2700" dirty="0"/>
          </a:p>
        </p:txBody>
      </p:sp>
      <p:sp>
        <p:nvSpPr>
          <p:cNvPr id="5" name="Shape 3"/>
          <p:cNvSpPr/>
          <p:nvPr/>
        </p:nvSpPr>
        <p:spPr>
          <a:xfrm>
            <a:off x="457200" y="1645920"/>
            <a:ext cx="3566160" cy="3703320"/>
          </a:xfrm>
          <a:prstGeom prst="roundRect">
            <a:avLst>
              <a:gd name="adj" fmla="val 2308"/>
            </a:avLst>
          </a:prstGeom>
          <a:solidFill>
            <a:srgbClr val="E8F6F9"/>
          </a:solidFill>
          <a:ln/>
          <a:effectLst>
            <a:outerShdw blurRad="76200" dist="25400" dir="5400000" algn="bl" rotWithShape="0">
              <a:srgbClr val="1B2229">
                <a:alpha val="12000"/>
              </a:srgbClr>
            </a:outerShdw>
          </a:effectLst>
        </p:spPr>
      </p:sp>
      <p:sp>
        <p:nvSpPr>
          <p:cNvPr id="6" name="Shape 4"/>
          <p:cNvSpPr/>
          <p:nvPr/>
        </p:nvSpPr>
        <p:spPr>
          <a:xfrm>
            <a:off x="694944" y="1865376"/>
            <a:ext cx="457200" cy="457200"/>
          </a:xfrm>
          <a:prstGeom prst="roundRect">
            <a:avLst>
              <a:gd name="adj" fmla="val 18000"/>
            </a:avLst>
          </a:prstGeom>
          <a:solidFill>
            <a:srgbClr val="1B2229"/>
          </a:solidFill>
          <a:ln/>
        </p:spPr>
      </p:sp>
      <p:sp>
        <p:nvSpPr>
          <p:cNvPr id="7" name="Text 5"/>
          <p:cNvSpPr/>
          <p:nvPr/>
        </p:nvSpPr>
        <p:spPr>
          <a:xfrm>
            <a:off x="694944" y="1865376"/>
            <a:ext cx="457200" cy="457200"/>
          </a:xfrm>
          <a:prstGeom prst="rect">
            <a:avLst/>
          </a:prstGeom>
          <a:noFill/>
          <a:ln/>
        </p:spPr>
        <p:txBody>
          <a:bodyPr wrap="square" lIns="0" tIns="0" rIns="0" bIns="0" rtlCol="0" anchor="ctr"/>
          <a:lstStyle/>
          <a:p>
            <a:pPr marL="0" indent="0" algn="ctr">
              <a:buNone/>
            </a:pPr>
            <a:r>
              <a:rPr lang="en-US" sz="1800" b="1" dirty="0">
                <a:solidFill>
                  <a:srgbClr val="BAEB56"/>
                </a:solidFill>
                <a:latin typeface="Calibri" pitchFamily="34" charset="0"/>
                <a:ea typeface="Calibri" pitchFamily="34" charset="-122"/>
                <a:cs typeface="Calibri" pitchFamily="34" charset="-120"/>
              </a:rPr>
              <a:t>Aa</a:t>
            </a:r>
            <a:endParaRPr lang="en-US" sz="1800" dirty="0"/>
          </a:p>
        </p:txBody>
      </p:sp>
      <p:sp>
        <p:nvSpPr>
          <p:cNvPr id="8" name="Text 6"/>
          <p:cNvSpPr/>
          <p:nvPr/>
        </p:nvSpPr>
        <p:spPr>
          <a:xfrm>
            <a:off x="694944" y="2468880"/>
            <a:ext cx="3090672" cy="566928"/>
          </a:xfrm>
          <a:prstGeom prst="rect">
            <a:avLst/>
          </a:prstGeom>
          <a:noFill/>
          <a:ln/>
        </p:spPr>
        <p:txBody>
          <a:bodyPr wrap="square" lIns="0" tIns="0" rIns="0" bIns="0" rtlCol="0" anchor="t"/>
          <a:lstStyle/>
          <a:p>
            <a:pPr marL="0" indent="0">
              <a:buNone/>
            </a:pPr>
            <a:r>
              <a:rPr lang="en-US" sz="1500" b="1" dirty="0">
                <a:solidFill>
                  <a:srgbClr val="1B2229"/>
                </a:solidFill>
                <a:latin typeface="Calibri" pitchFamily="34" charset="0"/>
                <a:ea typeface="Calibri" pitchFamily="34" charset="-122"/>
                <a:cs typeface="Calibri" pitchFamily="34" charset="-120"/>
              </a:rPr>
              <a:t>El logotipo</a:t>
            </a:r>
            <a:endParaRPr lang="en-US" sz="1500" dirty="0"/>
          </a:p>
        </p:txBody>
      </p:sp>
      <p:sp>
        <p:nvSpPr>
          <p:cNvPr id="9" name="Text 7"/>
          <p:cNvSpPr/>
          <p:nvPr/>
        </p:nvSpPr>
        <p:spPr>
          <a:xfrm>
            <a:off x="694944" y="3017520"/>
            <a:ext cx="3090672" cy="2148840"/>
          </a:xfrm>
          <a:prstGeom prst="rect">
            <a:avLst/>
          </a:prstGeom>
          <a:noFill/>
          <a:ln/>
        </p:spPr>
        <p:txBody>
          <a:bodyPr wrap="square" lIns="0" tIns="0" rIns="0" bIns="0" rtlCol="0" anchor="t"/>
          <a:lstStyle/>
          <a:p>
            <a:pPr marL="0" indent="0">
              <a:lnSpc>
                <a:spcPct val="115000"/>
              </a:lnSpc>
              <a:buNone/>
            </a:pPr>
            <a:r>
              <a:rPr lang="en-US" sz="1150" dirty="0">
                <a:solidFill>
                  <a:srgbClr val="5B6670"/>
                </a:solidFill>
                <a:latin typeface="Calibri" pitchFamily="34" charset="0"/>
                <a:ea typeface="Calibri" pitchFamily="34" charset="-122"/>
                <a:cs typeface="Calibri" pitchFamily="34" charset="-120"/>
              </a:rPr>
              <a:t>Se dibuja en minúscula: “veo.” El punto cierra la frase — afirma en pasado y presente, nunca en futuro. La “o” toma la forma de un rectángulo: nada en VEO es circular.</a:t>
            </a:r>
            <a:endParaRPr lang="en-US" sz="1150" dirty="0"/>
          </a:p>
        </p:txBody>
      </p:sp>
      <p:sp>
        <p:nvSpPr>
          <p:cNvPr id="10" name="Shape 8"/>
          <p:cNvSpPr/>
          <p:nvPr/>
        </p:nvSpPr>
        <p:spPr>
          <a:xfrm>
            <a:off x="4206240" y="1645920"/>
            <a:ext cx="3566160" cy="3703320"/>
          </a:xfrm>
          <a:prstGeom prst="roundRect">
            <a:avLst>
              <a:gd name="adj" fmla="val 2308"/>
            </a:avLst>
          </a:prstGeom>
          <a:solidFill>
            <a:srgbClr val="E8F6F9"/>
          </a:solidFill>
          <a:ln/>
        </p:spPr>
      </p:sp>
      <p:sp>
        <p:nvSpPr>
          <p:cNvPr id="11" name="Text 9"/>
          <p:cNvSpPr/>
          <p:nvPr/>
        </p:nvSpPr>
        <p:spPr>
          <a:xfrm>
            <a:off x="4462272" y="1874520"/>
            <a:ext cx="3108960" cy="274320"/>
          </a:xfrm>
          <a:prstGeom prst="rect">
            <a:avLst/>
          </a:prstGeom>
          <a:noFill/>
          <a:ln/>
        </p:spPr>
        <p:txBody>
          <a:bodyPr wrap="square" lIns="0" tIns="0" rIns="0" bIns="0" rtlCol="0" anchor="ctr"/>
          <a:lstStyle/>
          <a:p>
            <a:pPr marL="0" indent="0">
              <a:buNone/>
            </a:pPr>
            <a:r>
              <a:rPr lang="en-US" sz="1050" b="1" kern="0" spc="150" dirty="0">
                <a:solidFill>
                  <a:srgbClr val="4A798C"/>
                </a:solidFill>
                <a:latin typeface="Calibri" pitchFamily="34" charset="0"/>
                <a:ea typeface="Calibri" pitchFamily="34" charset="-122"/>
                <a:cs typeface="Calibri" pitchFamily="34" charset="-120"/>
              </a:rPr>
              <a:t>TIPOGRAFÍA</a:t>
            </a:r>
            <a:endParaRPr lang="en-US" sz="1050" dirty="0"/>
          </a:p>
        </p:txBody>
      </p:sp>
      <p:sp>
        <p:nvSpPr>
          <p:cNvPr id="12" name="Text 10"/>
          <p:cNvSpPr/>
          <p:nvPr/>
        </p:nvSpPr>
        <p:spPr>
          <a:xfrm>
            <a:off x="4462272" y="2148840"/>
            <a:ext cx="3108960" cy="457200"/>
          </a:xfrm>
          <a:prstGeom prst="rect">
            <a:avLst/>
          </a:prstGeom>
          <a:noFill/>
          <a:ln/>
        </p:spPr>
        <p:txBody>
          <a:bodyPr wrap="square" lIns="0" tIns="0" rIns="0" bIns="0" rtlCol="0" anchor="ctr"/>
          <a:lstStyle/>
          <a:p>
            <a:pPr marL="0" indent="0">
              <a:buNone/>
            </a:pPr>
            <a:r>
              <a:rPr lang="en-US" sz="2200" b="1" dirty="0">
                <a:solidFill>
                  <a:srgbClr val="1B2229"/>
                </a:solidFill>
                <a:latin typeface="Calibri" pitchFamily="34" charset="0"/>
                <a:ea typeface="Calibri" pitchFamily="34" charset="-122"/>
                <a:cs typeface="Calibri" pitchFamily="34" charset="-120"/>
              </a:rPr>
              <a:t>Funnel Sans</a:t>
            </a:r>
            <a:endParaRPr lang="en-US" sz="2200" dirty="0"/>
          </a:p>
        </p:txBody>
      </p:sp>
      <p:sp>
        <p:nvSpPr>
          <p:cNvPr id="13" name="Text 11"/>
          <p:cNvSpPr/>
          <p:nvPr/>
        </p:nvSpPr>
        <p:spPr>
          <a:xfrm>
            <a:off x="4462272" y="2743200"/>
            <a:ext cx="3108960" cy="365760"/>
          </a:xfrm>
          <a:prstGeom prst="rect">
            <a:avLst/>
          </a:prstGeom>
          <a:noFill/>
          <a:ln/>
        </p:spPr>
        <p:txBody>
          <a:bodyPr wrap="square" lIns="0" tIns="0" rIns="0" bIns="0" rtlCol="0" anchor="ctr"/>
          <a:lstStyle/>
          <a:p>
            <a:pPr marL="0" indent="0">
              <a:buNone/>
            </a:pPr>
            <a:r>
              <a:rPr lang="en-US" sz="1400" b="1" dirty="0">
                <a:solidFill>
                  <a:srgbClr val="1B2229"/>
                </a:solidFill>
                <a:latin typeface="Calibri" pitchFamily="34" charset="0"/>
                <a:ea typeface="Calibri" pitchFamily="34" charset="-122"/>
                <a:cs typeface="Calibri" pitchFamily="34" charset="-120"/>
              </a:rPr>
              <a:t>SemiBold para titulares</a:t>
            </a:r>
            <a:endParaRPr lang="en-US" sz="1400" dirty="0"/>
          </a:p>
        </p:txBody>
      </p:sp>
      <p:sp>
        <p:nvSpPr>
          <p:cNvPr id="14" name="Text 12"/>
          <p:cNvSpPr/>
          <p:nvPr/>
        </p:nvSpPr>
        <p:spPr>
          <a:xfrm>
            <a:off x="4462272" y="3108960"/>
            <a:ext cx="3108960" cy="365760"/>
          </a:xfrm>
          <a:prstGeom prst="rect">
            <a:avLst/>
          </a:prstGeom>
          <a:noFill/>
          <a:ln/>
        </p:spPr>
        <p:txBody>
          <a:bodyPr wrap="square" lIns="0" tIns="0" rIns="0" bIns="0" rtlCol="0" anchor="ctr"/>
          <a:lstStyle/>
          <a:p>
            <a:pPr marL="0" indent="0">
              <a:buNone/>
            </a:pPr>
            <a:r>
              <a:rPr lang="en-US" sz="1400" dirty="0">
                <a:solidFill>
                  <a:srgbClr val="5B6670"/>
                </a:solidFill>
                <a:latin typeface="Calibri" pitchFamily="34" charset="0"/>
                <a:ea typeface="Calibri" pitchFamily="34" charset="-122"/>
                <a:cs typeface="Calibri" pitchFamily="34" charset="-120"/>
              </a:rPr>
              <a:t>Light para cuerpos de texto</a:t>
            </a:r>
            <a:endParaRPr lang="en-US" sz="1400" dirty="0"/>
          </a:p>
        </p:txBody>
      </p:sp>
      <p:sp>
        <p:nvSpPr>
          <p:cNvPr id="15" name="Text 13"/>
          <p:cNvSpPr/>
          <p:nvPr/>
        </p:nvSpPr>
        <p:spPr>
          <a:xfrm>
            <a:off x="4462272" y="3657600"/>
            <a:ext cx="3108960" cy="1463040"/>
          </a:xfrm>
          <a:prstGeom prst="rect">
            <a:avLst/>
          </a:prstGeom>
          <a:noFill/>
          <a:ln/>
        </p:spPr>
        <p:txBody>
          <a:bodyPr wrap="square" lIns="0" tIns="0" rIns="0" bIns="0" rtlCol="0" anchor="ctr"/>
          <a:lstStyle/>
          <a:p>
            <a:pPr marL="0" indent="0">
              <a:lnSpc>
                <a:spcPct val="115000"/>
              </a:lnSpc>
              <a:buNone/>
            </a:pPr>
            <a:r>
              <a:rPr lang="en-US" sz="1100" dirty="0">
                <a:solidFill>
                  <a:srgbClr val="5B6670"/>
                </a:solidFill>
                <a:latin typeface="Calibri" pitchFamily="34" charset="0"/>
                <a:ea typeface="Calibri" pitchFamily="34" charset="-122"/>
                <a:cs typeface="Calibri" pitchFamily="34" charset="-120"/>
              </a:rPr>
              <a:t>Ninguna otra excepción: ni condensadas, ni Bold para resaltar. La jerarquía se resuelve con tamaño y espacio.</a:t>
            </a:r>
            <a:endParaRPr lang="en-US" sz="1100" dirty="0"/>
          </a:p>
        </p:txBody>
      </p:sp>
      <p:sp>
        <p:nvSpPr>
          <p:cNvPr id="16" name="Shape 14"/>
          <p:cNvSpPr/>
          <p:nvPr/>
        </p:nvSpPr>
        <p:spPr>
          <a:xfrm>
            <a:off x="7955280" y="1645920"/>
            <a:ext cx="3776472" cy="3703320"/>
          </a:xfrm>
          <a:prstGeom prst="roundRect">
            <a:avLst>
              <a:gd name="adj" fmla="val 2222"/>
            </a:avLst>
          </a:prstGeom>
          <a:solidFill>
            <a:srgbClr val="1B2229"/>
          </a:solidFill>
          <a:ln/>
        </p:spPr>
      </p:sp>
      <p:sp>
        <p:nvSpPr>
          <p:cNvPr id="17" name="Text 15"/>
          <p:cNvSpPr/>
          <p:nvPr/>
        </p:nvSpPr>
        <p:spPr>
          <a:xfrm>
            <a:off x="8211312" y="1828800"/>
            <a:ext cx="3291840" cy="274320"/>
          </a:xfrm>
          <a:prstGeom prst="rect">
            <a:avLst/>
          </a:prstGeom>
          <a:noFill/>
          <a:ln/>
        </p:spPr>
        <p:txBody>
          <a:bodyPr wrap="square" lIns="0" tIns="0" rIns="0" bIns="0" rtlCol="0" anchor="ctr"/>
          <a:lstStyle/>
          <a:p>
            <a:pPr marL="0" indent="0">
              <a:buNone/>
            </a:pPr>
            <a:r>
              <a:rPr lang="en-US" sz="1050" b="1" kern="0" spc="150" dirty="0">
                <a:solidFill>
                  <a:srgbClr val="BAEB56"/>
                </a:solidFill>
                <a:latin typeface="Calibri" pitchFamily="34" charset="0"/>
                <a:ea typeface="Calibri" pitchFamily="34" charset="-122"/>
                <a:cs typeface="Calibri" pitchFamily="34" charset="-120"/>
              </a:rPr>
              <a:t>PALETA CROMÁTICA</a:t>
            </a:r>
            <a:endParaRPr lang="en-US" sz="1050" dirty="0"/>
          </a:p>
        </p:txBody>
      </p:sp>
      <p:sp>
        <p:nvSpPr>
          <p:cNvPr id="18" name="Shape 16"/>
          <p:cNvSpPr/>
          <p:nvPr/>
        </p:nvSpPr>
        <p:spPr>
          <a:xfrm>
            <a:off x="8211312" y="2194560"/>
            <a:ext cx="502920" cy="365760"/>
          </a:xfrm>
          <a:prstGeom prst="roundRect">
            <a:avLst>
              <a:gd name="adj" fmla="val 15000"/>
            </a:avLst>
          </a:prstGeom>
          <a:solidFill>
            <a:srgbClr val="1B2229"/>
          </a:solidFill>
          <a:ln/>
        </p:spPr>
      </p:sp>
      <p:sp>
        <p:nvSpPr>
          <p:cNvPr id="19" name="Text 17"/>
          <p:cNvSpPr/>
          <p:nvPr/>
        </p:nvSpPr>
        <p:spPr>
          <a:xfrm>
            <a:off x="8814816" y="2176272"/>
            <a:ext cx="1828800" cy="21945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VEO Dark</a:t>
            </a:r>
            <a:endParaRPr lang="en-US" sz="1100" dirty="0"/>
          </a:p>
        </p:txBody>
      </p:sp>
      <p:sp>
        <p:nvSpPr>
          <p:cNvPr id="20" name="Text 18"/>
          <p:cNvSpPr/>
          <p:nvPr/>
        </p:nvSpPr>
        <p:spPr>
          <a:xfrm>
            <a:off x="8814816" y="2377440"/>
            <a:ext cx="1828800" cy="201168"/>
          </a:xfrm>
          <a:prstGeom prst="rect">
            <a:avLst/>
          </a:prstGeom>
          <a:noFill/>
          <a:ln/>
        </p:spPr>
        <p:txBody>
          <a:bodyPr wrap="square" lIns="0" tIns="0" rIns="0" bIns="0" rtlCol="0" anchor="ctr"/>
          <a:lstStyle/>
          <a:p>
            <a:pPr marL="0" indent="0">
              <a:buNone/>
            </a:pPr>
            <a:r>
              <a:rPr lang="en-US" sz="950" dirty="0">
                <a:solidFill>
                  <a:srgbClr val="9AA7AE"/>
                </a:solidFill>
                <a:latin typeface="Calibri" pitchFamily="34" charset="0"/>
                <a:ea typeface="Calibri" pitchFamily="34" charset="-122"/>
                <a:cs typeface="Calibri" pitchFamily="34" charset="-120"/>
              </a:rPr>
              <a:t>#1B2229</a:t>
            </a:r>
            <a:endParaRPr lang="en-US" sz="950" dirty="0"/>
          </a:p>
        </p:txBody>
      </p:sp>
      <p:sp>
        <p:nvSpPr>
          <p:cNvPr id="21" name="Shape 19"/>
          <p:cNvSpPr/>
          <p:nvPr/>
        </p:nvSpPr>
        <p:spPr>
          <a:xfrm>
            <a:off x="8211312" y="2724912"/>
            <a:ext cx="502920" cy="365760"/>
          </a:xfrm>
          <a:prstGeom prst="roundRect">
            <a:avLst>
              <a:gd name="adj" fmla="val 15000"/>
            </a:avLst>
          </a:prstGeom>
          <a:solidFill>
            <a:srgbClr val="4A798C"/>
          </a:solidFill>
          <a:ln/>
        </p:spPr>
      </p:sp>
      <p:sp>
        <p:nvSpPr>
          <p:cNvPr id="22" name="Text 20"/>
          <p:cNvSpPr/>
          <p:nvPr/>
        </p:nvSpPr>
        <p:spPr>
          <a:xfrm>
            <a:off x="8814816" y="2706624"/>
            <a:ext cx="1828800" cy="21945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VEO Gray</a:t>
            </a:r>
            <a:endParaRPr lang="en-US" sz="1100" dirty="0"/>
          </a:p>
        </p:txBody>
      </p:sp>
      <p:sp>
        <p:nvSpPr>
          <p:cNvPr id="23" name="Text 21"/>
          <p:cNvSpPr/>
          <p:nvPr/>
        </p:nvSpPr>
        <p:spPr>
          <a:xfrm>
            <a:off x="8814816" y="2907792"/>
            <a:ext cx="1828800" cy="201168"/>
          </a:xfrm>
          <a:prstGeom prst="rect">
            <a:avLst/>
          </a:prstGeom>
          <a:noFill/>
          <a:ln/>
        </p:spPr>
        <p:txBody>
          <a:bodyPr wrap="square" lIns="0" tIns="0" rIns="0" bIns="0" rtlCol="0" anchor="ctr"/>
          <a:lstStyle/>
          <a:p>
            <a:pPr marL="0" indent="0">
              <a:buNone/>
            </a:pPr>
            <a:r>
              <a:rPr lang="en-US" sz="950" dirty="0">
                <a:solidFill>
                  <a:srgbClr val="9AA7AE"/>
                </a:solidFill>
                <a:latin typeface="Calibri" pitchFamily="34" charset="0"/>
                <a:ea typeface="Calibri" pitchFamily="34" charset="-122"/>
                <a:cs typeface="Calibri" pitchFamily="34" charset="-120"/>
              </a:rPr>
              <a:t>#4A798C</a:t>
            </a:r>
            <a:endParaRPr lang="en-US" sz="950" dirty="0"/>
          </a:p>
        </p:txBody>
      </p:sp>
      <p:sp>
        <p:nvSpPr>
          <p:cNvPr id="24" name="Shape 22"/>
          <p:cNvSpPr/>
          <p:nvPr/>
        </p:nvSpPr>
        <p:spPr>
          <a:xfrm>
            <a:off x="8211312" y="3255264"/>
            <a:ext cx="502920" cy="365760"/>
          </a:xfrm>
          <a:prstGeom prst="roundRect">
            <a:avLst>
              <a:gd name="adj" fmla="val 15000"/>
            </a:avLst>
          </a:prstGeom>
          <a:solidFill>
            <a:srgbClr val="BAEB56"/>
          </a:solidFill>
          <a:ln/>
        </p:spPr>
      </p:sp>
      <p:sp>
        <p:nvSpPr>
          <p:cNvPr id="25" name="Text 23"/>
          <p:cNvSpPr/>
          <p:nvPr/>
        </p:nvSpPr>
        <p:spPr>
          <a:xfrm>
            <a:off x="8814816" y="3236976"/>
            <a:ext cx="1828800" cy="21945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VEO Lime</a:t>
            </a:r>
            <a:endParaRPr lang="en-US" sz="1100" dirty="0"/>
          </a:p>
        </p:txBody>
      </p:sp>
      <p:sp>
        <p:nvSpPr>
          <p:cNvPr id="26" name="Text 24"/>
          <p:cNvSpPr/>
          <p:nvPr/>
        </p:nvSpPr>
        <p:spPr>
          <a:xfrm>
            <a:off x="8814816" y="3438144"/>
            <a:ext cx="1828800" cy="201168"/>
          </a:xfrm>
          <a:prstGeom prst="rect">
            <a:avLst/>
          </a:prstGeom>
          <a:noFill/>
          <a:ln/>
        </p:spPr>
        <p:txBody>
          <a:bodyPr wrap="square" lIns="0" tIns="0" rIns="0" bIns="0" rtlCol="0" anchor="ctr"/>
          <a:lstStyle/>
          <a:p>
            <a:pPr marL="0" indent="0">
              <a:buNone/>
            </a:pPr>
            <a:r>
              <a:rPr lang="en-US" sz="950" dirty="0">
                <a:solidFill>
                  <a:srgbClr val="9AA7AE"/>
                </a:solidFill>
                <a:latin typeface="Calibri" pitchFamily="34" charset="0"/>
                <a:ea typeface="Calibri" pitchFamily="34" charset="-122"/>
                <a:cs typeface="Calibri" pitchFamily="34" charset="-120"/>
              </a:rPr>
              <a:t>#BAEB56</a:t>
            </a:r>
            <a:endParaRPr lang="en-US" sz="950" dirty="0"/>
          </a:p>
        </p:txBody>
      </p:sp>
      <p:sp>
        <p:nvSpPr>
          <p:cNvPr id="27" name="Shape 25"/>
          <p:cNvSpPr/>
          <p:nvPr/>
        </p:nvSpPr>
        <p:spPr>
          <a:xfrm>
            <a:off x="8211312" y="3785616"/>
            <a:ext cx="502920" cy="365760"/>
          </a:xfrm>
          <a:prstGeom prst="roundRect">
            <a:avLst>
              <a:gd name="adj" fmla="val 15000"/>
            </a:avLst>
          </a:prstGeom>
          <a:solidFill>
            <a:srgbClr val="E8F6F9"/>
          </a:solidFill>
          <a:ln/>
        </p:spPr>
      </p:sp>
      <p:sp>
        <p:nvSpPr>
          <p:cNvPr id="28" name="Text 26"/>
          <p:cNvSpPr/>
          <p:nvPr/>
        </p:nvSpPr>
        <p:spPr>
          <a:xfrm>
            <a:off x="8814816" y="3767328"/>
            <a:ext cx="1828800" cy="21945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VEO Ice</a:t>
            </a:r>
            <a:endParaRPr lang="en-US" sz="1100" dirty="0"/>
          </a:p>
        </p:txBody>
      </p:sp>
      <p:sp>
        <p:nvSpPr>
          <p:cNvPr id="29" name="Text 27"/>
          <p:cNvSpPr/>
          <p:nvPr/>
        </p:nvSpPr>
        <p:spPr>
          <a:xfrm>
            <a:off x="8814816" y="3968496"/>
            <a:ext cx="1828800" cy="201168"/>
          </a:xfrm>
          <a:prstGeom prst="rect">
            <a:avLst/>
          </a:prstGeom>
          <a:noFill/>
          <a:ln/>
        </p:spPr>
        <p:txBody>
          <a:bodyPr wrap="square" lIns="0" tIns="0" rIns="0" bIns="0" rtlCol="0" anchor="ctr"/>
          <a:lstStyle/>
          <a:p>
            <a:pPr marL="0" indent="0">
              <a:buNone/>
            </a:pPr>
            <a:r>
              <a:rPr lang="en-US" sz="950" dirty="0">
                <a:solidFill>
                  <a:srgbClr val="9AA7AE"/>
                </a:solidFill>
                <a:latin typeface="Calibri" pitchFamily="34" charset="0"/>
                <a:ea typeface="Calibri" pitchFamily="34" charset="-122"/>
                <a:cs typeface="Calibri" pitchFamily="34" charset="-120"/>
              </a:rPr>
              <a:t>#E8F6F9</a:t>
            </a:r>
            <a:endParaRPr lang="en-US" sz="950" dirty="0"/>
          </a:p>
        </p:txBody>
      </p:sp>
      <p:sp>
        <p:nvSpPr>
          <p:cNvPr id="30" name="Text 28"/>
          <p:cNvSpPr/>
          <p:nvPr/>
        </p:nvSpPr>
        <p:spPr>
          <a:xfrm>
            <a:off x="8211312" y="4434840"/>
            <a:ext cx="3291840" cy="777240"/>
          </a:xfrm>
          <a:prstGeom prst="rect">
            <a:avLst/>
          </a:prstGeom>
          <a:noFill/>
          <a:ln/>
        </p:spPr>
        <p:txBody>
          <a:bodyPr wrap="square" lIns="0" tIns="0" rIns="0" bIns="0" rtlCol="0" anchor="ctr"/>
          <a:lstStyle/>
          <a:p>
            <a:pPr marL="0" indent="0">
              <a:lnSpc>
                <a:spcPct val="115000"/>
              </a:lnSpc>
              <a:buNone/>
            </a:pPr>
            <a:r>
              <a:rPr lang="en-US" sz="1050" i="1" dirty="0">
                <a:solidFill>
                  <a:srgbClr val="C9D3D8"/>
                </a:solidFill>
                <a:latin typeface="Calibri" pitchFamily="34" charset="0"/>
                <a:ea typeface="Calibri" pitchFamily="34" charset="-122"/>
                <a:cs typeface="Calibri" pitchFamily="34" charset="-120"/>
              </a:rPr>
              <a:t>El Lime señala — nunca decora. No se usa como color del logotipo.</a:t>
            </a:r>
            <a:endParaRPr lang="en-US" sz="1050" dirty="0"/>
          </a:p>
        </p:txBody>
      </p:sp>
      <p:sp>
        <p:nvSpPr>
          <p:cNvPr id="31" name="Text 29"/>
          <p:cNvSpPr/>
          <p:nvPr/>
        </p:nvSpPr>
        <p:spPr>
          <a:xfrm>
            <a:off x="457200" y="6510528"/>
            <a:ext cx="8229600" cy="274320"/>
          </a:xfrm>
          <a:prstGeom prst="rect">
            <a:avLst/>
          </a:prstGeom>
          <a:noFill/>
          <a:ln/>
        </p:spPr>
        <p:txBody>
          <a:bodyPr wrap="square" lIns="0" tIns="0" rIns="0" bIns="0" rtlCol="0" anchor="ctr"/>
          <a:lstStyle/>
          <a:p>
            <a:pPr marL="0" indent="0">
              <a:buNone/>
            </a:pPr>
            <a:r>
              <a:rPr lang="en-US" sz="900" dirty="0">
                <a:solidFill>
                  <a:srgbClr val="5B6670"/>
                </a:solidFill>
                <a:latin typeface="Calibri" pitchFamily="34" charset="0"/>
                <a:ea typeface="Calibri" pitchFamily="34" charset="-122"/>
                <a:cs typeface="Calibri" pitchFamily="34" charset="-120"/>
              </a:rPr>
              <a:t>VEO · Resumen del Manual de Marca — Kickoff de equipo</a:t>
            </a:r>
            <a:endParaRPr lang="en-US" sz="900" dirty="0"/>
          </a:p>
        </p:txBody>
      </p:sp>
      <p:sp>
        <p:nvSpPr>
          <p:cNvPr id="32" name="Text 30"/>
          <p:cNvSpPr/>
          <p:nvPr/>
        </p:nvSpPr>
        <p:spPr>
          <a:xfrm>
            <a:off x="10972800" y="6510528"/>
            <a:ext cx="758952" cy="274320"/>
          </a:xfrm>
          <a:prstGeom prst="rect">
            <a:avLst/>
          </a:prstGeom>
          <a:noFill/>
          <a:ln/>
        </p:spPr>
        <p:txBody>
          <a:bodyPr wrap="square" lIns="0" tIns="0" rIns="0" bIns="0" rtlCol="0" anchor="ctr"/>
          <a:lstStyle/>
          <a:p>
            <a:pPr marL="0" indent="0" algn="r">
              <a:buNone/>
            </a:pPr>
            <a:r>
              <a:rPr lang="en-US" sz="900" dirty="0">
                <a:solidFill>
                  <a:srgbClr val="5B6670"/>
                </a:solidFill>
                <a:latin typeface="Calibri" pitchFamily="34" charset="0"/>
                <a:ea typeface="Calibri" pitchFamily="34" charset="-122"/>
                <a:cs typeface="Calibri"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229"/>
        </a:solidFill>
        <a:effectLst/>
      </p:bgPr>
    </p:bg>
    <p:spTree>
      <p:nvGrpSpPr>
        <p:cNvPr id="1" name=""/>
        <p:cNvGrpSpPr/>
        <p:nvPr/>
      </p:nvGrpSpPr>
      <p:grpSpPr>
        <a:xfrm>
          <a:off x="0" y="0"/>
          <a:ext cx="0" cy="0"/>
          <a:chOff x="0" y="0"/>
          <a:chExt cx="0" cy="0"/>
        </a:xfrm>
      </p:grpSpPr>
      <p:sp>
        <p:nvSpPr>
          <p:cNvPr id="2" name="Shape 0"/>
          <p:cNvSpPr/>
          <p:nvPr/>
        </p:nvSpPr>
        <p:spPr>
          <a:xfrm rot="900000">
            <a:off x="-1280160" y="4206240"/>
            <a:ext cx="3840480" cy="3840480"/>
          </a:xfrm>
          <a:prstGeom prst="roundRect">
            <a:avLst>
              <a:gd name="adj" fmla="val 10714"/>
            </a:avLst>
          </a:prstGeom>
          <a:solidFill>
            <a:srgbClr val="24303A"/>
          </a:solidFill>
          <a:ln/>
        </p:spPr>
      </p:sp>
      <p:sp>
        <p:nvSpPr>
          <p:cNvPr id="3" name="Text 1"/>
          <p:cNvSpPr/>
          <p:nvPr/>
        </p:nvSpPr>
        <p:spPr>
          <a:xfrm>
            <a:off x="731520" y="1554480"/>
            <a:ext cx="10698480" cy="1371600"/>
          </a:xfrm>
          <a:prstGeom prst="rect">
            <a:avLst/>
          </a:prstGeom>
          <a:noFill/>
          <a:ln/>
        </p:spPr>
        <p:txBody>
          <a:bodyPr wrap="square" lIns="0" tIns="0" rIns="0" bIns="0" rtlCol="0" anchor="ctr"/>
          <a:lstStyle/>
          <a:p>
            <a:pPr marL="0" indent="0">
              <a:lnSpc>
                <a:spcPct val="130000"/>
              </a:lnSpc>
              <a:buNone/>
            </a:pPr>
            <a:r>
              <a:rPr lang="en-US" sz="2000" i="1" dirty="0">
                <a:solidFill>
                  <a:srgbClr val="FFFFFF"/>
                </a:solidFill>
                <a:latin typeface="Calibri" pitchFamily="34" charset="0"/>
                <a:ea typeface="Calibri" pitchFamily="34" charset="-122"/>
                <a:cs typeface="Calibri" pitchFamily="34" charset="-120"/>
              </a:rPr>
              <a:t>No lo hacemos para distinguirnos. Lo hacemos porque si lo que muestras importa, entonces cómo lo mostramos también importa.</a:t>
            </a:r>
            <a:endParaRPr lang="en-US" sz="2000" dirty="0"/>
          </a:p>
        </p:txBody>
      </p:sp>
      <p:sp>
        <p:nvSpPr>
          <p:cNvPr id="4" name="Shape 2"/>
          <p:cNvSpPr/>
          <p:nvPr/>
        </p:nvSpPr>
        <p:spPr>
          <a:xfrm>
            <a:off x="731520" y="3200400"/>
            <a:ext cx="10698480" cy="822960"/>
          </a:xfrm>
          <a:prstGeom prst="roundRect">
            <a:avLst>
              <a:gd name="adj" fmla="val 10000"/>
            </a:avLst>
          </a:prstGeom>
          <a:solidFill>
            <a:srgbClr val="24303A"/>
          </a:solidFill>
          <a:ln/>
        </p:spPr>
      </p:sp>
      <p:sp>
        <p:nvSpPr>
          <p:cNvPr id="5" name="Text 3"/>
          <p:cNvSpPr/>
          <p:nvPr/>
        </p:nvSpPr>
        <p:spPr>
          <a:xfrm>
            <a:off x="960120" y="3200400"/>
            <a:ext cx="10241280" cy="822960"/>
          </a:xfrm>
          <a:prstGeom prst="rect">
            <a:avLst/>
          </a:prstGeom>
          <a:noFill/>
          <a:ln/>
        </p:spPr>
        <p:txBody>
          <a:bodyPr wrap="square" lIns="0" tIns="0" rIns="0" bIns="0" rtlCol="0" anchor="ctr"/>
          <a:lstStyle/>
          <a:p>
            <a:pPr marL="0" indent="0">
              <a:buNone/>
            </a:pPr>
            <a:r>
              <a:rPr lang="en-US" sz="1500" b="1" dirty="0">
                <a:solidFill>
                  <a:srgbClr val="BAEB56"/>
                </a:solidFill>
                <a:latin typeface="Calibri" pitchFamily="34" charset="0"/>
                <a:ea typeface="Calibri" pitchFamily="34" charset="-122"/>
                <a:cs typeface="Calibri" pitchFamily="34" charset="-120"/>
              </a:rPr>
              <a:t>A partir de hoy, cada uno de nosotros es guardián de esta promesa.</a:t>
            </a:r>
            <a:endParaRPr lang="en-US" sz="1500" dirty="0"/>
          </a:p>
        </p:txBody>
      </p:sp>
      <p:sp>
        <p:nvSpPr>
          <p:cNvPr id="6" name="Text 4"/>
          <p:cNvSpPr/>
          <p:nvPr/>
        </p:nvSpPr>
        <p:spPr>
          <a:xfrm>
            <a:off x="758952" y="438912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Visible. Verificable. VEO.</a:t>
            </a:r>
            <a:endParaRPr lang="en-US" sz="3000" dirty="0"/>
          </a:p>
        </p:txBody>
      </p:sp>
      <p:sp>
        <p:nvSpPr>
          <p:cNvPr id="7" name="Text 5"/>
          <p:cNvSpPr/>
          <p:nvPr/>
        </p:nvSpPr>
        <p:spPr>
          <a:xfrm>
            <a:off x="758952" y="6126480"/>
            <a:ext cx="8229600" cy="320040"/>
          </a:xfrm>
          <a:prstGeom prst="rect">
            <a:avLst/>
          </a:prstGeom>
          <a:noFill/>
          <a:ln/>
        </p:spPr>
        <p:txBody>
          <a:bodyPr wrap="square" lIns="0" tIns="0" rIns="0" bIns="0" rtlCol="0" anchor="ctr"/>
          <a:lstStyle/>
          <a:p>
            <a:pPr marL="0" indent="0">
              <a:buNone/>
            </a:pPr>
            <a:r>
              <a:rPr lang="en-US" sz="1100" dirty="0">
                <a:solidFill>
                  <a:srgbClr val="4A798C"/>
                </a:solidFill>
                <a:latin typeface="Calibri" pitchFamily="34" charset="0"/>
                <a:ea typeface="Calibri" pitchFamily="34" charset="-122"/>
                <a:cs typeface="Calibri" pitchFamily="34" charset="-120"/>
              </a:rPr>
              <a:t>Manual completo disponible para consulta  ·  Dudas: Dirección de Marca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1069</Words>
  <Application>Microsoft Office PowerPoint</Application>
  <PresentationFormat>Panorámica</PresentationFormat>
  <Paragraphs>139</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Marca VEO — Resumen para el equipo</dc:title>
  <dc:subject>PptxGenJS Presentation</dc:subject>
  <dc:creator>VEO</dc:creator>
  <cp:lastModifiedBy>Laptop Asus</cp:lastModifiedBy>
  <cp:revision>2</cp:revision>
  <dcterms:created xsi:type="dcterms:W3CDTF">2026-08-17T21:17:52Z</dcterms:created>
  <dcterms:modified xsi:type="dcterms:W3CDTF">2026-08-17T23:26:21Z</dcterms:modified>
</cp:coreProperties>
</file>